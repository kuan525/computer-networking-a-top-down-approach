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2021/2/26</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935018" y="490919"/>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01AFCCA-2ACE-4B98-B8C9-3D997B62A798}"/>
              </a:ext>
            </a:extLst>
          </p:cNvPr>
          <p:cNvSpPr txBox="1"/>
          <p:nvPr/>
        </p:nvSpPr>
        <p:spPr>
          <a:xfrm>
            <a:off x="3629890" y="464642"/>
            <a:ext cx="6714837" cy="769441"/>
          </a:xfrm>
          <a:prstGeom prst="rect">
            <a:avLst/>
          </a:prstGeom>
          <a:noFill/>
        </p:spPr>
        <p:txBody>
          <a:bodyPr wrap="square" rtlCol="0">
            <a:spAutoFit/>
          </a:bodyPr>
          <a:lstStyle/>
          <a:p>
            <a:r>
              <a:rPr lang="zh-CN" altLang="en-US" sz="4400" b="1" dirty="0"/>
              <a:t>排队时延和丢包</a:t>
            </a:r>
          </a:p>
        </p:txBody>
      </p:sp>
      <p:sp>
        <p:nvSpPr>
          <p:cNvPr id="3" name="文本框 2">
            <a:extLst>
              <a:ext uri="{FF2B5EF4-FFF2-40B4-BE49-F238E27FC236}">
                <a16:creationId xmlns:a16="http://schemas.microsoft.com/office/drawing/2014/main" id="{DDA2FC44-B36D-4776-9324-15C200F7E109}"/>
              </a:ext>
            </a:extLst>
          </p:cNvPr>
          <p:cNvSpPr txBox="1"/>
          <p:nvPr/>
        </p:nvSpPr>
        <p:spPr>
          <a:xfrm>
            <a:off x="1071418" y="1178093"/>
            <a:ext cx="9494981" cy="1631216"/>
          </a:xfrm>
          <a:prstGeom prst="rect">
            <a:avLst/>
          </a:prstGeom>
          <a:noFill/>
        </p:spPr>
        <p:txBody>
          <a:bodyPr wrap="square" rtlCol="0">
            <a:spAutoFit/>
          </a:bodyPr>
          <a:lstStyle/>
          <a:p>
            <a:r>
              <a:rPr lang="en-US" altLang="zh-CN" sz="2000" dirty="0"/>
              <a:t>L</a:t>
            </a:r>
            <a:r>
              <a:rPr lang="zh-CN" altLang="en-US" sz="2000" dirty="0"/>
              <a:t>：一个分组的比特大小</a:t>
            </a:r>
            <a:endParaRPr lang="en-US" altLang="zh-CN" sz="2000" dirty="0"/>
          </a:p>
          <a:p>
            <a:r>
              <a:rPr lang="en-US" altLang="zh-CN" sz="2000" dirty="0"/>
              <a:t>a</a:t>
            </a:r>
            <a:r>
              <a:rPr lang="zh-CN" altLang="en-US" sz="2000" dirty="0"/>
              <a:t>：分组到达队列的</a:t>
            </a:r>
            <a:r>
              <a:rPr lang="zh-CN" altLang="en-US" sz="2000" b="1" dirty="0"/>
              <a:t>平均</a:t>
            </a:r>
            <a:r>
              <a:rPr lang="zh-CN" altLang="en-US" sz="2000" dirty="0"/>
              <a:t>速度</a:t>
            </a:r>
            <a:r>
              <a:rPr lang="en-US" altLang="zh-CN" sz="2000" dirty="0"/>
              <a:t>(</a:t>
            </a:r>
            <a:r>
              <a:rPr lang="zh-CN" altLang="en-US" sz="2000" dirty="0"/>
              <a:t>分组</a:t>
            </a:r>
            <a:r>
              <a:rPr lang="en-US" altLang="zh-CN" sz="2000" dirty="0"/>
              <a:t>/</a:t>
            </a:r>
            <a:r>
              <a:rPr lang="zh-CN" altLang="en-US" sz="2000" dirty="0"/>
              <a:t>秒</a:t>
            </a:r>
            <a:r>
              <a:rPr lang="en-US" altLang="zh-CN" sz="2000" dirty="0"/>
              <a:t>=pkt/s)</a:t>
            </a:r>
            <a:r>
              <a:rPr lang="zh-CN" altLang="en-US" sz="2000" dirty="0"/>
              <a:t>进入队列实际速度无上限，此处因为 </a:t>
            </a:r>
            <a:endParaRPr lang="en-US" altLang="zh-CN" sz="2000" dirty="0"/>
          </a:p>
          <a:p>
            <a:r>
              <a:rPr lang="en-US" altLang="zh-CN" sz="2000" dirty="0"/>
              <a:t>    </a:t>
            </a:r>
            <a:r>
              <a:rPr lang="zh-CN" altLang="en-US" sz="2000" dirty="0"/>
              <a:t>分组进入队列时到达的流量性质不确定，有时无分组到达，有时扎堆到达，这 里  </a:t>
            </a:r>
            <a:endParaRPr lang="en-US" altLang="zh-CN" sz="2000" dirty="0"/>
          </a:p>
          <a:p>
            <a:r>
              <a:rPr lang="en-US" altLang="zh-CN" sz="2000" dirty="0"/>
              <a:t>    </a:t>
            </a:r>
            <a:r>
              <a:rPr lang="zh-CN" altLang="en-US" sz="2000" dirty="0"/>
              <a:t>取平均值。</a:t>
            </a:r>
            <a:endParaRPr lang="en-US" altLang="zh-CN" sz="2000" dirty="0"/>
          </a:p>
          <a:p>
            <a:r>
              <a:rPr lang="en-US" altLang="zh-CN" sz="2000" dirty="0"/>
              <a:t>R</a:t>
            </a:r>
            <a:r>
              <a:rPr lang="zh-CN" altLang="en-US" sz="2000" dirty="0"/>
              <a:t>：传输速度</a:t>
            </a:r>
            <a:r>
              <a:rPr lang="en-US" altLang="zh-CN" sz="2000" dirty="0"/>
              <a:t>(</a:t>
            </a:r>
            <a:r>
              <a:rPr lang="zh-CN" altLang="en-US" sz="2000" dirty="0"/>
              <a:t>队列中推出比特的速率</a:t>
            </a:r>
            <a:r>
              <a:rPr lang="en-US" altLang="zh-CN" sz="2000" dirty="0"/>
              <a:t>bps=b/s)</a:t>
            </a:r>
          </a:p>
        </p:txBody>
      </p:sp>
      <p:sp>
        <p:nvSpPr>
          <p:cNvPr id="5" name="文本框 4">
            <a:extLst>
              <a:ext uri="{FF2B5EF4-FFF2-40B4-BE49-F238E27FC236}">
                <a16:creationId xmlns:a16="http://schemas.microsoft.com/office/drawing/2014/main" id="{BB38A3BD-8DB1-4CC8-A7AF-364C87B7BB64}"/>
              </a:ext>
            </a:extLst>
          </p:cNvPr>
          <p:cNvSpPr txBox="1"/>
          <p:nvPr/>
        </p:nvSpPr>
        <p:spPr>
          <a:xfrm>
            <a:off x="1071418" y="2868059"/>
            <a:ext cx="9938327" cy="461665"/>
          </a:xfrm>
          <a:prstGeom prst="rect">
            <a:avLst/>
          </a:prstGeom>
          <a:noFill/>
        </p:spPr>
        <p:txBody>
          <a:bodyPr wrap="square" rtlCol="0">
            <a:spAutoFit/>
          </a:bodyPr>
          <a:lstStyle/>
          <a:p>
            <a:r>
              <a:rPr lang="zh-CN" altLang="en-US" sz="2400" b="1" dirty="0"/>
              <a:t>流量强度：</a:t>
            </a:r>
            <a:r>
              <a:rPr lang="en-US" altLang="zh-CN" sz="2400" b="1" dirty="0"/>
              <a:t>La/R(</a:t>
            </a:r>
            <a:r>
              <a:rPr lang="zh-CN" altLang="en-US" sz="2400" b="1" dirty="0"/>
              <a:t>进</a:t>
            </a:r>
            <a:r>
              <a:rPr lang="en-US" altLang="zh-CN" sz="2400" b="1" dirty="0"/>
              <a:t>/</a:t>
            </a:r>
            <a:r>
              <a:rPr lang="zh-CN" altLang="en-US" sz="2400" b="1" dirty="0"/>
              <a:t>出</a:t>
            </a:r>
            <a:r>
              <a:rPr lang="en-US" altLang="zh-CN" sz="2400" b="1" dirty="0"/>
              <a:t>)</a:t>
            </a:r>
            <a:endParaRPr lang="zh-CN" altLang="en-US" sz="2400" b="1" dirty="0"/>
          </a:p>
        </p:txBody>
      </p:sp>
      <p:sp>
        <p:nvSpPr>
          <p:cNvPr id="6" name="文本框 5">
            <a:extLst>
              <a:ext uri="{FF2B5EF4-FFF2-40B4-BE49-F238E27FC236}">
                <a16:creationId xmlns:a16="http://schemas.microsoft.com/office/drawing/2014/main" id="{32F2487A-0A95-4E11-BC5E-37E16C7EC795}"/>
              </a:ext>
            </a:extLst>
          </p:cNvPr>
          <p:cNvSpPr txBox="1"/>
          <p:nvPr/>
        </p:nvSpPr>
        <p:spPr>
          <a:xfrm>
            <a:off x="1847273" y="3436249"/>
            <a:ext cx="9236363" cy="369332"/>
          </a:xfrm>
          <a:prstGeom prst="rect">
            <a:avLst/>
          </a:prstGeom>
          <a:noFill/>
        </p:spPr>
        <p:txBody>
          <a:bodyPr wrap="square" rtlCol="0">
            <a:spAutoFit/>
          </a:bodyPr>
          <a:lstStyle/>
          <a:p>
            <a:r>
              <a:rPr lang="zh-CN" altLang="en-US" dirty="0"/>
              <a:t>流量工程中的一条金科玉律是：设计系统时流量强度不能大于</a:t>
            </a:r>
            <a:r>
              <a:rPr lang="en-US" altLang="zh-CN" dirty="0"/>
              <a:t>1</a:t>
            </a:r>
            <a:endParaRPr lang="zh-CN" altLang="en-US" dirty="0"/>
          </a:p>
        </p:txBody>
      </p:sp>
      <p:pic>
        <p:nvPicPr>
          <p:cNvPr id="8" name="图片 7">
            <a:extLst>
              <a:ext uri="{FF2B5EF4-FFF2-40B4-BE49-F238E27FC236}">
                <a16:creationId xmlns:a16="http://schemas.microsoft.com/office/drawing/2014/main" id="{39EF9508-A93E-466A-BC48-B9627B51CEBF}"/>
              </a:ext>
            </a:extLst>
          </p:cNvPr>
          <p:cNvPicPr>
            <a:picLocks noChangeAspect="1"/>
          </p:cNvPicPr>
          <p:nvPr/>
        </p:nvPicPr>
        <p:blipFill rotWithShape="1">
          <a:blip r:embed="rId2">
            <a:extLst>
              <a:ext uri="{28A0092B-C50C-407E-A947-70E740481C1C}">
                <a14:useLocalDpi xmlns:a14="http://schemas.microsoft.com/office/drawing/2010/main" val="0"/>
              </a:ext>
            </a:extLst>
          </a:blip>
          <a:srcRect l="39350" t="19539" r="19512" b="19539"/>
          <a:stretch/>
        </p:blipFill>
        <p:spPr>
          <a:xfrm rot="5400000">
            <a:off x="8688976" y="2241483"/>
            <a:ext cx="2960377" cy="3288007"/>
          </a:xfrm>
          <a:prstGeom prst="rect">
            <a:avLst/>
          </a:prstGeom>
        </p:spPr>
      </p:pic>
      <p:sp>
        <p:nvSpPr>
          <p:cNvPr id="9" name="文本框 8">
            <a:extLst>
              <a:ext uri="{FF2B5EF4-FFF2-40B4-BE49-F238E27FC236}">
                <a16:creationId xmlns:a16="http://schemas.microsoft.com/office/drawing/2014/main" id="{DA1A7ECA-1625-434E-9F40-6A6017EDEC91}"/>
              </a:ext>
            </a:extLst>
          </p:cNvPr>
          <p:cNvSpPr txBox="1"/>
          <p:nvPr/>
        </p:nvSpPr>
        <p:spPr>
          <a:xfrm>
            <a:off x="8063344" y="5721880"/>
            <a:ext cx="3879274" cy="369332"/>
          </a:xfrm>
          <a:prstGeom prst="rect">
            <a:avLst/>
          </a:prstGeom>
          <a:noFill/>
        </p:spPr>
        <p:txBody>
          <a:bodyPr wrap="square" rtlCol="0">
            <a:spAutoFit/>
          </a:bodyPr>
          <a:lstStyle/>
          <a:p>
            <a:r>
              <a:rPr lang="zh-CN" altLang="en-US" dirty="0"/>
              <a:t>平均排队时延与流量强度的定性关系</a:t>
            </a:r>
          </a:p>
        </p:txBody>
      </p:sp>
      <p:sp>
        <p:nvSpPr>
          <p:cNvPr id="10" name="文本框 9">
            <a:extLst>
              <a:ext uri="{FF2B5EF4-FFF2-40B4-BE49-F238E27FC236}">
                <a16:creationId xmlns:a16="http://schemas.microsoft.com/office/drawing/2014/main" id="{7E13B89C-2DBB-400B-A397-651C2F09DBF5}"/>
              </a:ext>
            </a:extLst>
          </p:cNvPr>
          <p:cNvSpPr txBox="1"/>
          <p:nvPr/>
        </p:nvSpPr>
        <p:spPr>
          <a:xfrm>
            <a:off x="1071418" y="3967711"/>
            <a:ext cx="914400" cy="461665"/>
          </a:xfrm>
          <a:prstGeom prst="rect">
            <a:avLst/>
          </a:prstGeom>
          <a:noFill/>
        </p:spPr>
        <p:txBody>
          <a:bodyPr wrap="square" rtlCol="0">
            <a:spAutoFit/>
          </a:bodyPr>
          <a:lstStyle/>
          <a:p>
            <a:r>
              <a:rPr lang="zh-CN" altLang="en-US" sz="2400" b="1" dirty="0"/>
              <a:t>丢包</a:t>
            </a:r>
          </a:p>
        </p:txBody>
      </p:sp>
      <p:sp>
        <p:nvSpPr>
          <p:cNvPr id="11" name="文本框 10">
            <a:extLst>
              <a:ext uri="{FF2B5EF4-FFF2-40B4-BE49-F238E27FC236}">
                <a16:creationId xmlns:a16="http://schemas.microsoft.com/office/drawing/2014/main" id="{E135C863-DFEA-4035-8DA3-0E7A3D589668}"/>
              </a:ext>
            </a:extLst>
          </p:cNvPr>
          <p:cNvSpPr txBox="1"/>
          <p:nvPr/>
        </p:nvSpPr>
        <p:spPr>
          <a:xfrm>
            <a:off x="1551708" y="4488512"/>
            <a:ext cx="6511636" cy="1754326"/>
          </a:xfrm>
          <a:prstGeom prst="rect">
            <a:avLst/>
          </a:prstGeom>
          <a:noFill/>
        </p:spPr>
        <p:txBody>
          <a:bodyPr wrap="square" rtlCol="0">
            <a:spAutoFit/>
          </a:bodyPr>
          <a:lstStyle/>
          <a:p>
            <a:r>
              <a:rPr lang="zh-CN" altLang="en-US" dirty="0"/>
              <a:t>在现实中，一条链路前的队列只有限的容量，尽管排队容量极大地以来于路由器设计和成本。因为该队列容量是有限的，随着流量强度接近</a:t>
            </a:r>
            <a:r>
              <a:rPr lang="en-US" altLang="zh-CN" dirty="0"/>
              <a:t>1</a:t>
            </a:r>
            <a:r>
              <a:rPr lang="zh-CN" altLang="en-US" dirty="0"/>
              <a:t>，排队时延并不正正趋向无穷大。相反，到达的分组将发现一个满的队列，由于没有地方储存这个队列，路由器将</a:t>
            </a:r>
            <a:r>
              <a:rPr lang="zh-CN" altLang="en-US" b="1" dirty="0"/>
              <a:t>丢弃</a:t>
            </a:r>
            <a:r>
              <a:rPr lang="zh-CN" altLang="en-US" dirty="0"/>
              <a:t>这个分组，及该分组会</a:t>
            </a:r>
            <a:r>
              <a:rPr lang="zh-CN" altLang="en-US" b="1" dirty="0"/>
              <a:t>丢失</a:t>
            </a:r>
            <a:r>
              <a:rPr lang="zh-CN" altLang="en-US" dirty="0"/>
              <a:t>。</a:t>
            </a:r>
            <a:endParaRPr lang="en-US" altLang="zh-CN" dirty="0"/>
          </a:p>
          <a:p>
            <a:r>
              <a:rPr lang="zh-CN" altLang="en-US" dirty="0"/>
              <a:t>实际上，到达的分组或正在排队的分组之一被丢弃        </a:t>
            </a:r>
            <a:r>
              <a:rPr lang="en-US" altLang="zh-CN" dirty="0"/>
              <a:t>P17</a:t>
            </a:r>
            <a:endParaRPr lang="zh-CN" altLang="en-US" dirty="0"/>
          </a:p>
        </p:txBody>
      </p:sp>
      <p:sp>
        <p:nvSpPr>
          <p:cNvPr id="15" name="文本框 14">
            <a:extLst>
              <a:ext uri="{FF2B5EF4-FFF2-40B4-BE49-F238E27FC236}">
                <a16:creationId xmlns:a16="http://schemas.microsoft.com/office/drawing/2014/main" id="{84C0C520-97F6-4368-9A67-2DBB8A9CAC8A}"/>
              </a:ext>
            </a:extLst>
          </p:cNvPr>
          <p:cNvSpPr txBox="1"/>
          <p:nvPr/>
        </p:nvSpPr>
        <p:spPr>
          <a:xfrm>
            <a:off x="9328727" y="6236980"/>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28</a:t>
            </a:r>
            <a:endParaRPr lang="zh-CN" altLang="en-US" sz="3200" dirty="0"/>
          </a:p>
        </p:txBody>
      </p:sp>
    </p:spTree>
    <p:extLst>
      <p:ext uri="{BB962C8B-B14F-4D97-AF65-F5344CB8AC3E}">
        <p14:creationId xmlns:p14="http://schemas.microsoft.com/office/powerpoint/2010/main" val="1279579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18671F8-7B46-4EE3-B978-BDF35D0FEBBB}"/>
              </a:ext>
            </a:extLst>
          </p:cNvPr>
          <p:cNvSpPr txBox="1"/>
          <p:nvPr/>
        </p:nvSpPr>
        <p:spPr>
          <a:xfrm>
            <a:off x="1034473" y="452582"/>
            <a:ext cx="10123054" cy="584775"/>
          </a:xfrm>
          <a:prstGeom prst="rect">
            <a:avLst/>
          </a:prstGeom>
          <a:noFill/>
        </p:spPr>
        <p:txBody>
          <a:bodyPr wrap="square" rtlCol="0">
            <a:spAutoFit/>
          </a:bodyPr>
          <a:lstStyle/>
          <a:p>
            <a:pPr algn="ctr"/>
            <a:r>
              <a:rPr lang="zh-CN" altLang="en-US" sz="3200" b="1" dirty="0"/>
              <a:t>端到端的时延</a:t>
            </a:r>
          </a:p>
        </p:txBody>
      </p:sp>
      <p:sp>
        <p:nvSpPr>
          <p:cNvPr id="3" name="文本框 2">
            <a:extLst>
              <a:ext uri="{FF2B5EF4-FFF2-40B4-BE49-F238E27FC236}">
                <a16:creationId xmlns:a16="http://schemas.microsoft.com/office/drawing/2014/main" id="{48FFF5AD-A4E5-4F3E-80DA-898982FF8D85}"/>
              </a:ext>
            </a:extLst>
          </p:cNvPr>
          <p:cNvSpPr txBox="1"/>
          <p:nvPr/>
        </p:nvSpPr>
        <p:spPr>
          <a:xfrm>
            <a:off x="1283855" y="1232204"/>
            <a:ext cx="4544291" cy="369332"/>
          </a:xfrm>
          <a:prstGeom prst="rect">
            <a:avLst/>
          </a:prstGeom>
          <a:noFill/>
        </p:spPr>
        <p:txBody>
          <a:bodyPr wrap="square" rtlCol="0">
            <a:spAutoFit/>
          </a:bodyPr>
          <a:lstStyle/>
          <a:p>
            <a:r>
              <a:rPr lang="zh-CN" altLang="en-US" dirty="0"/>
              <a:t>一、</a:t>
            </a:r>
            <a:r>
              <a:rPr lang="en-US" altLang="zh-CN" dirty="0"/>
              <a:t>Traceroute:</a:t>
            </a:r>
            <a:endParaRPr lang="zh-CN" altLang="en-US" dirty="0"/>
          </a:p>
        </p:txBody>
      </p:sp>
      <p:sp>
        <p:nvSpPr>
          <p:cNvPr id="4" name="文本框 3">
            <a:extLst>
              <a:ext uri="{FF2B5EF4-FFF2-40B4-BE49-F238E27FC236}">
                <a16:creationId xmlns:a16="http://schemas.microsoft.com/office/drawing/2014/main" id="{A2BE0F17-080C-420C-A490-8AB0BBCECF74}"/>
              </a:ext>
            </a:extLst>
          </p:cNvPr>
          <p:cNvSpPr txBox="1"/>
          <p:nvPr/>
        </p:nvSpPr>
        <p:spPr>
          <a:xfrm>
            <a:off x="1283855" y="3368847"/>
            <a:ext cx="4812145" cy="369332"/>
          </a:xfrm>
          <a:prstGeom prst="rect">
            <a:avLst/>
          </a:prstGeom>
          <a:noFill/>
        </p:spPr>
        <p:txBody>
          <a:bodyPr wrap="square" rtlCol="0">
            <a:spAutoFit/>
          </a:bodyPr>
          <a:lstStyle/>
          <a:p>
            <a:r>
              <a:rPr lang="zh-CN" altLang="en-US" dirty="0"/>
              <a:t>二、端系统、应用程序和其他时延</a:t>
            </a:r>
          </a:p>
        </p:txBody>
      </p:sp>
      <p:sp>
        <p:nvSpPr>
          <p:cNvPr id="5" name="文本框 4">
            <a:extLst>
              <a:ext uri="{FF2B5EF4-FFF2-40B4-BE49-F238E27FC236}">
                <a16:creationId xmlns:a16="http://schemas.microsoft.com/office/drawing/2014/main" id="{BEF47FED-5BC4-4667-99EA-2035D45BC41A}"/>
              </a:ext>
            </a:extLst>
          </p:cNvPr>
          <p:cNvSpPr txBox="1"/>
          <p:nvPr/>
        </p:nvSpPr>
        <p:spPr>
          <a:xfrm>
            <a:off x="1791855" y="3935830"/>
            <a:ext cx="9596582" cy="1569660"/>
          </a:xfrm>
          <a:prstGeom prst="rect">
            <a:avLst/>
          </a:prstGeom>
          <a:noFill/>
        </p:spPr>
        <p:txBody>
          <a:bodyPr wrap="square" rtlCol="0">
            <a:spAutoFit/>
          </a:bodyPr>
          <a:lstStyle/>
          <a:p>
            <a:r>
              <a:rPr lang="zh-CN" altLang="en-US" sz="1600" dirty="0"/>
              <a:t>除了处理时延、传输时延和传播时延，端系统中还有其他一些重要时延。例如，希望向共享媒体</a:t>
            </a:r>
            <a:r>
              <a:rPr lang="en-US" altLang="zh-CN" sz="1600" dirty="0"/>
              <a:t>(</a:t>
            </a:r>
            <a:r>
              <a:rPr lang="zh-CN" altLang="en-US" sz="1600" dirty="0"/>
              <a:t>例如在</a:t>
            </a:r>
            <a:r>
              <a:rPr lang="en-US" altLang="zh-CN" sz="1600" dirty="0"/>
              <a:t>WIFI</a:t>
            </a:r>
            <a:r>
              <a:rPr lang="zh-CN" altLang="en-US" sz="1600" dirty="0"/>
              <a:t>或电缆调制解调器情况下</a:t>
            </a:r>
            <a:r>
              <a:rPr lang="en-US" altLang="zh-CN" sz="1600" dirty="0"/>
              <a:t>)</a:t>
            </a:r>
            <a:r>
              <a:rPr lang="zh-CN" altLang="en-US" sz="1600" dirty="0"/>
              <a:t>传输分组的端系统可能</a:t>
            </a:r>
            <a:r>
              <a:rPr lang="zh-CN" altLang="en-US" sz="1600" b="1" dirty="0"/>
              <a:t>有意延迟</a:t>
            </a:r>
            <a:r>
              <a:rPr lang="zh-CN" altLang="en-US" sz="1600" dirty="0"/>
              <a:t>它的传输，把这作为与其他端系统共享媒体的</a:t>
            </a:r>
            <a:r>
              <a:rPr lang="zh-CN" altLang="en-US" sz="1600" b="1" dirty="0"/>
              <a:t>协议</a:t>
            </a:r>
            <a:r>
              <a:rPr lang="zh-CN" altLang="en-US" sz="1600" dirty="0"/>
              <a:t>的一部分；我们将在第六章详细的考虑这样的协议。另一个重要的时延是媒体分组话时延，这种时延出现在</a:t>
            </a:r>
            <a:r>
              <a:rPr lang="en-US" altLang="zh-CN" sz="1600" dirty="0"/>
              <a:t>IP</a:t>
            </a:r>
            <a:r>
              <a:rPr lang="zh-CN" altLang="en-US" sz="1600" dirty="0"/>
              <a:t>语音</a:t>
            </a:r>
            <a:r>
              <a:rPr lang="en-US" altLang="zh-CN" sz="1600" dirty="0"/>
              <a:t>(VoIP)</a:t>
            </a:r>
            <a:r>
              <a:rPr lang="zh-CN" altLang="en-US" sz="1600" dirty="0"/>
              <a:t>应用中。在</a:t>
            </a:r>
            <a:r>
              <a:rPr lang="en-US" altLang="zh-CN" sz="1600" dirty="0"/>
              <a:t>VoIP</a:t>
            </a:r>
            <a:r>
              <a:rPr lang="zh-CN" altLang="en-US" sz="1600" dirty="0"/>
              <a:t>中，发送方在向因特网传递分组之前必须首先用编码的数字化语音填充一个分组。这种填充一个分组的时间称为</a:t>
            </a:r>
            <a:r>
              <a:rPr lang="zh-CN" altLang="en-US" sz="1600" b="1" dirty="0"/>
              <a:t>分组化时延</a:t>
            </a:r>
            <a:r>
              <a:rPr lang="zh-CN" altLang="en-US" sz="1600" dirty="0"/>
              <a:t>，它可能比较大，并能影响用户感受到的</a:t>
            </a:r>
            <a:r>
              <a:rPr lang="en-US" altLang="zh-CN" sz="1600" dirty="0"/>
              <a:t>VoIP</a:t>
            </a:r>
            <a:r>
              <a:rPr lang="zh-CN" altLang="en-US" sz="1600" dirty="0"/>
              <a:t>呼呼叫的质量。这个问题将在本章结束的课后作业中进一步探讨</a:t>
            </a:r>
            <a:endParaRPr lang="en-US" altLang="zh-CN" sz="1600" dirty="0"/>
          </a:p>
        </p:txBody>
      </p:sp>
      <p:sp>
        <p:nvSpPr>
          <p:cNvPr id="6" name="文本框 5">
            <a:extLst>
              <a:ext uri="{FF2B5EF4-FFF2-40B4-BE49-F238E27FC236}">
                <a16:creationId xmlns:a16="http://schemas.microsoft.com/office/drawing/2014/main" id="{BF217931-F501-4166-B15F-2657549251F0}"/>
              </a:ext>
            </a:extLst>
          </p:cNvPr>
          <p:cNvSpPr txBox="1"/>
          <p:nvPr/>
        </p:nvSpPr>
        <p:spPr>
          <a:xfrm>
            <a:off x="1791855" y="1796383"/>
            <a:ext cx="8931563" cy="1323439"/>
          </a:xfrm>
          <a:prstGeom prst="rect">
            <a:avLst/>
          </a:prstGeom>
          <a:noFill/>
        </p:spPr>
        <p:txBody>
          <a:bodyPr wrap="square" rtlCol="0">
            <a:spAutoFit/>
          </a:bodyPr>
          <a:lstStyle/>
          <a:p>
            <a:r>
              <a:rPr lang="en-US" altLang="zh-CN" sz="1600" dirty="0" err="1"/>
              <a:t>Tracetoute</a:t>
            </a:r>
            <a:r>
              <a:rPr lang="zh-CN" altLang="en-US" sz="1600" dirty="0"/>
              <a:t>是一个简单的程序，它能够在任何因特网主机上运行。向目的地发送多个特殊的分组，这些分组向着目的地传送时，他们通过一系列路由器，当路由器接收到这些特殊分组之一时，它向源回送一个短报文。该短报文包括路由器的名字和地址。</a:t>
            </a:r>
            <a:endParaRPr lang="en-US" altLang="zh-CN" sz="1600" dirty="0"/>
          </a:p>
          <a:p>
            <a:r>
              <a:rPr lang="zh-CN" altLang="en-US" sz="1600" dirty="0"/>
              <a:t>假定源和目的地之间有</a:t>
            </a:r>
            <a:r>
              <a:rPr lang="en-US" altLang="zh-CN" sz="1600" dirty="0"/>
              <a:t>N-1</a:t>
            </a:r>
            <a:r>
              <a:rPr lang="zh-CN" altLang="en-US" sz="1600" dirty="0"/>
              <a:t>台路由器，源发送</a:t>
            </a:r>
            <a:r>
              <a:rPr lang="en-US" altLang="zh-CN" sz="1600" dirty="0"/>
              <a:t>N</a:t>
            </a:r>
            <a:r>
              <a:rPr lang="zh-CN" altLang="en-US" sz="1600" dirty="0"/>
              <a:t>个分组。当第</a:t>
            </a:r>
            <a:r>
              <a:rPr lang="en-US" altLang="zh-CN" sz="1600" dirty="0"/>
              <a:t>n</a:t>
            </a:r>
            <a:r>
              <a:rPr lang="zh-CN" altLang="en-US" sz="1600" dirty="0"/>
              <a:t>台路由器接收到标示为</a:t>
            </a:r>
            <a:r>
              <a:rPr lang="en-US" altLang="zh-CN" sz="1600" dirty="0"/>
              <a:t>n</a:t>
            </a:r>
            <a:r>
              <a:rPr lang="zh-CN" altLang="en-US" sz="1600" dirty="0"/>
              <a:t>的第</a:t>
            </a:r>
            <a:r>
              <a:rPr lang="en-US" altLang="zh-CN" sz="1600" dirty="0"/>
              <a:t>n</a:t>
            </a:r>
            <a:r>
              <a:rPr lang="zh-CN" altLang="en-US" sz="1600" dirty="0"/>
              <a:t>个分组时，该路由器不是向目的地转发该分组，而是向源回送一个报文。</a:t>
            </a:r>
          </a:p>
        </p:txBody>
      </p:sp>
    </p:spTree>
    <p:extLst>
      <p:ext uri="{BB962C8B-B14F-4D97-AF65-F5344CB8AC3E}">
        <p14:creationId xmlns:p14="http://schemas.microsoft.com/office/powerpoint/2010/main" val="2291351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99D8EE22-1EC7-49C7-A382-E2F3F94018A7}"/>
              </a:ext>
            </a:extLst>
          </p:cNvPr>
          <p:cNvSpPr txBox="1"/>
          <p:nvPr/>
        </p:nvSpPr>
        <p:spPr>
          <a:xfrm>
            <a:off x="2669309" y="600364"/>
            <a:ext cx="6289963" cy="646331"/>
          </a:xfrm>
          <a:prstGeom prst="rect">
            <a:avLst/>
          </a:prstGeom>
          <a:noFill/>
        </p:spPr>
        <p:txBody>
          <a:bodyPr wrap="square" rtlCol="0">
            <a:spAutoFit/>
          </a:bodyPr>
          <a:lstStyle/>
          <a:p>
            <a:pPr algn="ctr"/>
            <a:r>
              <a:rPr lang="zh-CN" altLang="en-US" sz="3600" b="1" dirty="0"/>
              <a:t>计算机网络中的吞吐量</a:t>
            </a:r>
          </a:p>
        </p:txBody>
      </p:sp>
      <p:sp>
        <p:nvSpPr>
          <p:cNvPr id="3" name="文本框 2">
            <a:extLst>
              <a:ext uri="{FF2B5EF4-FFF2-40B4-BE49-F238E27FC236}">
                <a16:creationId xmlns:a16="http://schemas.microsoft.com/office/drawing/2014/main" id="{B4BF7F94-3AF4-4DC2-BBB5-8B9B4FABCD13}"/>
              </a:ext>
            </a:extLst>
          </p:cNvPr>
          <p:cNvSpPr txBox="1"/>
          <p:nvPr/>
        </p:nvSpPr>
        <p:spPr>
          <a:xfrm>
            <a:off x="1320800" y="1653309"/>
            <a:ext cx="9264073" cy="707886"/>
          </a:xfrm>
          <a:prstGeom prst="rect">
            <a:avLst/>
          </a:prstGeom>
          <a:noFill/>
        </p:spPr>
        <p:txBody>
          <a:bodyPr wrap="square" rtlCol="0">
            <a:spAutoFit/>
          </a:bodyPr>
          <a:lstStyle/>
          <a:p>
            <a:r>
              <a:rPr lang="zh-CN" altLang="en-US" sz="4000" b="1" dirty="0"/>
              <a:t>东西在这儿</a:t>
            </a:r>
          </a:p>
        </p:txBody>
      </p:sp>
    </p:spTree>
    <p:extLst>
      <p:ext uri="{BB962C8B-B14F-4D97-AF65-F5344CB8AC3E}">
        <p14:creationId xmlns:p14="http://schemas.microsoft.com/office/powerpoint/2010/main" val="208396438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2765</TotalTime>
  <Words>2294</Words>
  <Application>Microsoft Office PowerPoint</Application>
  <PresentationFormat>宽屏</PresentationFormat>
  <Paragraphs>100</Paragraphs>
  <Slides>14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14</vt:i4>
      </vt:variant>
    </vt:vector>
  </HeadingPairs>
  <TitlesOfParts>
    <vt:vector size="18"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46</cp:revision>
  <dcterms:created xsi:type="dcterms:W3CDTF">2021-02-19T02:08:25Z</dcterms:created>
  <dcterms:modified xsi:type="dcterms:W3CDTF">2021-02-26T12:07:51Z</dcterms:modified>
</cp:coreProperties>
</file>