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napToGrid="0">
      <p:cViewPr varScale="1">
        <p:scale>
          <a:sx n="83" d="100"/>
          <a:sy n="83" d="100"/>
        </p:scale>
        <p:origin x="658"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134"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B67A18-87EE-4A95-914E-E3BB7ECA6B3F}" type="datetimeFigureOut">
              <a:rPr lang="zh-CN" altLang="en-US" smtClean="0"/>
              <a:t>2021/2/19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5E20B3-D01A-4246-A842-912BF7BD7D8E}" type="slidenum">
              <a:rPr lang="zh-CN" altLang="en-US" smtClean="0"/>
              <a:t>‹#›</a:t>
            </a:fld>
            <a:endParaRPr lang="zh-CN" altLang="en-US"/>
          </a:p>
        </p:txBody>
      </p:sp>
    </p:spTree>
    <p:extLst>
      <p:ext uri="{BB962C8B-B14F-4D97-AF65-F5344CB8AC3E}">
        <p14:creationId xmlns:p14="http://schemas.microsoft.com/office/powerpoint/2010/main" val="396324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D5E20B3-D01A-4246-A842-912BF7BD7D8E}" type="slidenum">
              <a:rPr lang="zh-CN" altLang="en-US" smtClean="0"/>
              <a:t>1</a:t>
            </a:fld>
            <a:endParaRPr lang="zh-CN" altLang="en-US"/>
          </a:p>
        </p:txBody>
      </p:sp>
    </p:spTree>
    <p:extLst>
      <p:ext uri="{BB962C8B-B14F-4D97-AF65-F5344CB8AC3E}">
        <p14:creationId xmlns:p14="http://schemas.microsoft.com/office/powerpoint/2010/main" val="3253572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D5E20B3-D01A-4246-A842-912BF7BD7D8E}" type="slidenum">
              <a:rPr lang="zh-CN" altLang="en-US" smtClean="0"/>
              <a:t>2</a:t>
            </a:fld>
            <a:endParaRPr lang="zh-CN" altLang="en-US"/>
          </a:p>
        </p:txBody>
      </p:sp>
    </p:spTree>
    <p:extLst>
      <p:ext uri="{BB962C8B-B14F-4D97-AF65-F5344CB8AC3E}">
        <p14:creationId xmlns:p14="http://schemas.microsoft.com/office/powerpoint/2010/main" val="2014376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D5E20B3-D01A-4246-A842-912BF7BD7D8E}" type="slidenum">
              <a:rPr lang="zh-CN" altLang="en-US" smtClean="0"/>
              <a:t>4</a:t>
            </a:fld>
            <a:endParaRPr lang="zh-CN" altLang="en-US"/>
          </a:p>
        </p:txBody>
      </p:sp>
    </p:spTree>
    <p:extLst>
      <p:ext uri="{BB962C8B-B14F-4D97-AF65-F5344CB8AC3E}">
        <p14:creationId xmlns:p14="http://schemas.microsoft.com/office/powerpoint/2010/main" val="981539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D5E20B3-D01A-4246-A842-912BF7BD7D8E}" type="slidenum">
              <a:rPr lang="zh-CN" altLang="en-US" smtClean="0"/>
              <a:t>6</a:t>
            </a:fld>
            <a:endParaRPr lang="zh-CN" altLang="en-US"/>
          </a:p>
        </p:txBody>
      </p:sp>
    </p:spTree>
    <p:extLst>
      <p:ext uri="{BB962C8B-B14F-4D97-AF65-F5344CB8AC3E}">
        <p14:creationId xmlns:p14="http://schemas.microsoft.com/office/powerpoint/2010/main" val="734189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83F221-4233-4DC2-A4A0-C848DD55B9E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0DA871D-186C-44E6-8992-4BCBA85281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CDFB36C-5BE0-4B38-A1D8-B915D75CD66E}"/>
              </a:ext>
            </a:extLst>
          </p:cNvPr>
          <p:cNvSpPr>
            <a:spLocks noGrp="1"/>
          </p:cNvSpPr>
          <p:nvPr>
            <p:ph type="dt" sz="half" idx="10"/>
          </p:nvPr>
        </p:nvSpPr>
        <p:spPr/>
        <p:txBody>
          <a:bodyPr/>
          <a:lstStyle/>
          <a:p>
            <a:fld id="{1355D31F-6343-45BE-BF09-235967A8B230}" type="datetimeFigureOut">
              <a:rPr lang="zh-CN" altLang="en-US" smtClean="0"/>
              <a:t>2021/2/19</a:t>
            </a:fld>
            <a:endParaRPr lang="zh-CN" altLang="en-US"/>
          </a:p>
        </p:txBody>
      </p:sp>
      <p:sp>
        <p:nvSpPr>
          <p:cNvPr id="5" name="页脚占位符 4">
            <a:extLst>
              <a:ext uri="{FF2B5EF4-FFF2-40B4-BE49-F238E27FC236}">
                <a16:creationId xmlns:a16="http://schemas.microsoft.com/office/drawing/2014/main" id="{8930C3FC-9E5B-47F0-9A9C-E31BC2DDAB8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59EA72-C5FF-49D2-A536-B59DFD447767}"/>
              </a:ext>
            </a:extLst>
          </p:cNvPr>
          <p:cNvSpPr>
            <a:spLocks noGrp="1"/>
          </p:cNvSpPr>
          <p:nvPr>
            <p:ph type="sldNum" sz="quarter" idx="12"/>
          </p:nvPr>
        </p:nvSpPr>
        <p:spPr/>
        <p:txBody>
          <a:bodyPr/>
          <a:lstStyle/>
          <a:p>
            <a:fld id="{5DD37F63-26C8-41AD-8D7D-91734BE4BBCE}" type="slidenum">
              <a:rPr lang="zh-CN" altLang="en-US" smtClean="0"/>
              <a:t>‹#›</a:t>
            </a:fld>
            <a:endParaRPr lang="zh-CN" altLang="en-US"/>
          </a:p>
        </p:txBody>
      </p:sp>
    </p:spTree>
    <p:extLst>
      <p:ext uri="{BB962C8B-B14F-4D97-AF65-F5344CB8AC3E}">
        <p14:creationId xmlns:p14="http://schemas.microsoft.com/office/powerpoint/2010/main" val="1558091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EA2507-42EC-4445-A198-929A08CB722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1BB939A-9E4C-4BBE-97AF-D404B59CA4C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7C6CEFD-E876-440F-9080-D199D793A834}"/>
              </a:ext>
            </a:extLst>
          </p:cNvPr>
          <p:cNvSpPr>
            <a:spLocks noGrp="1"/>
          </p:cNvSpPr>
          <p:nvPr>
            <p:ph type="dt" sz="half" idx="10"/>
          </p:nvPr>
        </p:nvSpPr>
        <p:spPr/>
        <p:txBody>
          <a:bodyPr/>
          <a:lstStyle/>
          <a:p>
            <a:fld id="{1355D31F-6343-45BE-BF09-235967A8B230}" type="datetimeFigureOut">
              <a:rPr lang="zh-CN" altLang="en-US" smtClean="0"/>
              <a:t>2021/2/19</a:t>
            </a:fld>
            <a:endParaRPr lang="zh-CN" altLang="en-US"/>
          </a:p>
        </p:txBody>
      </p:sp>
      <p:sp>
        <p:nvSpPr>
          <p:cNvPr id="5" name="页脚占位符 4">
            <a:extLst>
              <a:ext uri="{FF2B5EF4-FFF2-40B4-BE49-F238E27FC236}">
                <a16:creationId xmlns:a16="http://schemas.microsoft.com/office/drawing/2014/main" id="{5F346703-C53B-4EA6-98E8-5C0D0D9B460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A7D042B-EF2D-4762-B8CC-1400256C7C46}"/>
              </a:ext>
            </a:extLst>
          </p:cNvPr>
          <p:cNvSpPr>
            <a:spLocks noGrp="1"/>
          </p:cNvSpPr>
          <p:nvPr>
            <p:ph type="sldNum" sz="quarter" idx="12"/>
          </p:nvPr>
        </p:nvSpPr>
        <p:spPr/>
        <p:txBody>
          <a:bodyPr/>
          <a:lstStyle/>
          <a:p>
            <a:fld id="{5DD37F63-26C8-41AD-8D7D-91734BE4BBCE}" type="slidenum">
              <a:rPr lang="zh-CN" altLang="en-US" smtClean="0"/>
              <a:t>‹#›</a:t>
            </a:fld>
            <a:endParaRPr lang="zh-CN" altLang="en-US"/>
          </a:p>
        </p:txBody>
      </p:sp>
    </p:spTree>
    <p:extLst>
      <p:ext uri="{BB962C8B-B14F-4D97-AF65-F5344CB8AC3E}">
        <p14:creationId xmlns:p14="http://schemas.microsoft.com/office/powerpoint/2010/main" val="3404470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50B51D-DE2E-4C17-AA80-8C675734205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E6727A0-2081-4626-91F0-EF5DA36703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0C37856-6997-4C67-A2E4-A510E7B9A0A1}"/>
              </a:ext>
            </a:extLst>
          </p:cNvPr>
          <p:cNvSpPr>
            <a:spLocks noGrp="1"/>
          </p:cNvSpPr>
          <p:nvPr>
            <p:ph type="dt" sz="half" idx="10"/>
          </p:nvPr>
        </p:nvSpPr>
        <p:spPr/>
        <p:txBody>
          <a:bodyPr/>
          <a:lstStyle/>
          <a:p>
            <a:fld id="{1355D31F-6343-45BE-BF09-235967A8B230}" type="datetimeFigureOut">
              <a:rPr lang="zh-CN" altLang="en-US" smtClean="0"/>
              <a:t>2021/2/19</a:t>
            </a:fld>
            <a:endParaRPr lang="zh-CN" altLang="en-US"/>
          </a:p>
        </p:txBody>
      </p:sp>
      <p:sp>
        <p:nvSpPr>
          <p:cNvPr id="5" name="页脚占位符 4">
            <a:extLst>
              <a:ext uri="{FF2B5EF4-FFF2-40B4-BE49-F238E27FC236}">
                <a16:creationId xmlns:a16="http://schemas.microsoft.com/office/drawing/2014/main" id="{275C002A-FE30-4219-855E-D3522E0F9A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ABA80E-5A6E-4848-A37E-10CB75AEAB77}"/>
              </a:ext>
            </a:extLst>
          </p:cNvPr>
          <p:cNvSpPr>
            <a:spLocks noGrp="1"/>
          </p:cNvSpPr>
          <p:nvPr>
            <p:ph type="sldNum" sz="quarter" idx="12"/>
          </p:nvPr>
        </p:nvSpPr>
        <p:spPr/>
        <p:txBody>
          <a:bodyPr/>
          <a:lstStyle/>
          <a:p>
            <a:fld id="{5DD37F63-26C8-41AD-8D7D-91734BE4BBCE}" type="slidenum">
              <a:rPr lang="zh-CN" altLang="en-US" smtClean="0"/>
              <a:t>‹#›</a:t>
            </a:fld>
            <a:endParaRPr lang="zh-CN" altLang="en-US"/>
          </a:p>
        </p:txBody>
      </p:sp>
    </p:spTree>
    <p:extLst>
      <p:ext uri="{BB962C8B-B14F-4D97-AF65-F5344CB8AC3E}">
        <p14:creationId xmlns:p14="http://schemas.microsoft.com/office/powerpoint/2010/main" val="1866363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736F0A-D513-4DE9-B70C-E64196346EA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AFEF133-1717-44AA-8CE8-65EEAD15BE7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CC469AA-356F-4A9F-B9DF-B565536D4A7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B45C1B9-1A46-4F8B-8FF8-11EECEFD2A64}"/>
              </a:ext>
            </a:extLst>
          </p:cNvPr>
          <p:cNvSpPr>
            <a:spLocks noGrp="1"/>
          </p:cNvSpPr>
          <p:nvPr>
            <p:ph type="dt" sz="half" idx="10"/>
          </p:nvPr>
        </p:nvSpPr>
        <p:spPr/>
        <p:txBody>
          <a:bodyPr/>
          <a:lstStyle/>
          <a:p>
            <a:fld id="{1355D31F-6343-45BE-BF09-235967A8B230}" type="datetimeFigureOut">
              <a:rPr lang="zh-CN" altLang="en-US" smtClean="0"/>
              <a:t>2021/2/19</a:t>
            </a:fld>
            <a:endParaRPr lang="zh-CN" altLang="en-US"/>
          </a:p>
        </p:txBody>
      </p:sp>
      <p:sp>
        <p:nvSpPr>
          <p:cNvPr id="6" name="页脚占位符 5">
            <a:extLst>
              <a:ext uri="{FF2B5EF4-FFF2-40B4-BE49-F238E27FC236}">
                <a16:creationId xmlns:a16="http://schemas.microsoft.com/office/drawing/2014/main" id="{CF9EC0E0-9FAC-4107-BE65-1DAE468F834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CA39878-1676-42E4-AFA1-A86154BF37CB}"/>
              </a:ext>
            </a:extLst>
          </p:cNvPr>
          <p:cNvSpPr>
            <a:spLocks noGrp="1"/>
          </p:cNvSpPr>
          <p:nvPr>
            <p:ph type="sldNum" sz="quarter" idx="12"/>
          </p:nvPr>
        </p:nvSpPr>
        <p:spPr/>
        <p:txBody>
          <a:bodyPr/>
          <a:lstStyle/>
          <a:p>
            <a:fld id="{5DD37F63-26C8-41AD-8D7D-91734BE4BBCE}" type="slidenum">
              <a:rPr lang="zh-CN" altLang="en-US" smtClean="0"/>
              <a:t>‹#›</a:t>
            </a:fld>
            <a:endParaRPr lang="zh-CN" altLang="en-US"/>
          </a:p>
        </p:txBody>
      </p:sp>
    </p:spTree>
    <p:extLst>
      <p:ext uri="{BB962C8B-B14F-4D97-AF65-F5344CB8AC3E}">
        <p14:creationId xmlns:p14="http://schemas.microsoft.com/office/powerpoint/2010/main" val="392712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EE886-95F5-4F2D-AD7C-7FA02F8EBFD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1F51CD3-248E-462C-9A65-5296F0C5D9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5971B06-C18B-4150-A28C-FE4112076A1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F8D8A8F-1C12-4B6D-8C5E-B199929FAB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81CCAF9-7B47-4631-B92C-9FA9CFE4D63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A1EDCC0-A9B4-43D7-BD51-D3E53F75706E}"/>
              </a:ext>
            </a:extLst>
          </p:cNvPr>
          <p:cNvSpPr>
            <a:spLocks noGrp="1"/>
          </p:cNvSpPr>
          <p:nvPr>
            <p:ph type="dt" sz="half" idx="10"/>
          </p:nvPr>
        </p:nvSpPr>
        <p:spPr/>
        <p:txBody>
          <a:bodyPr/>
          <a:lstStyle/>
          <a:p>
            <a:fld id="{1355D31F-6343-45BE-BF09-235967A8B230}" type="datetimeFigureOut">
              <a:rPr lang="zh-CN" altLang="en-US" smtClean="0"/>
              <a:t>2021/2/19</a:t>
            </a:fld>
            <a:endParaRPr lang="zh-CN" altLang="en-US"/>
          </a:p>
        </p:txBody>
      </p:sp>
      <p:sp>
        <p:nvSpPr>
          <p:cNvPr id="8" name="页脚占位符 7">
            <a:extLst>
              <a:ext uri="{FF2B5EF4-FFF2-40B4-BE49-F238E27FC236}">
                <a16:creationId xmlns:a16="http://schemas.microsoft.com/office/drawing/2014/main" id="{FA99AEE5-D5EA-4D69-A287-C9C691C5AB4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8BD69FB-B6A7-4195-8B18-DB5C7B56A82D}"/>
              </a:ext>
            </a:extLst>
          </p:cNvPr>
          <p:cNvSpPr>
            <a:spLocks noGrp="1"/>
          </p:cNvSpPr>
          <p:nvPr>
            <p:ph type="sldNum" sz="quarter" idx="12"/>
          </p:nvPr>
        </p:nvSpPr>
        <p:spPr/>
        <p:txBody>
          <a:bodyPr/>
          <a:lstStyle/>
          <a:p>
            <a:fld id="{5DD37F63-26C8-41AD-8D7D-91734BE4BBCE}" type="slidenum">
              <a:rPr lang="zh-CN" altLang="en-US" smtClean="0"/>
              <a:t>‹#›</a:t>
            </a:fld>
            <a:endParaRPr lang="zh-CN" altLang="en-US"/>
          </a:p>
        </p:txBody>
      </p:sp>
    </p:spTree>
    <p:extLst>
      <p:ext uri="{BB962C8B-B14F-4D97-AF65-F5344CB8AC3E}">
        <p14:creationId xmlns:p14="http://schemas.microsoft.com/office/powerpoint/2010/main" val="2581807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FBF2E4-4F7B-4954-B89A-98EEDC9866B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3E78679-44DB-4FA8-B017-D64638949C73}"/>
              </a:ext>
            </a:extLst>
          </p:cNvPr>
          <p:cNvSpPr>
            <a:spLocks noGrp="1"/>
          </p:cNvSpPr>
          <p:nvPr>
            <p:ph type="dt" sz="half" idx="10"/>
          </p:nvPr>
        </p:nvSpPr>
        <p:spPr/>
        <p:txBody>
          <a:bodyPr/>
          <a:lstStyle/>
          <a:p>
            <a:fld id="{1355D31F-6343-45BE-BF09-235967A8B230}" type="datetimeFigureOut">
              <a:rPr lang="zh-CN" altLang="en-US" smtClean="0"/>
              <a:t>2021/2/19</a:t>
            </a:fld>
            <a:endParaRPr lang="zh-CN" altLang="en-US"/>
          </a:p>
        </p:txBody>
      </p:sp>
      <p:sp>
        <p:nvSpPr>
          <p:cNvPr id="4" name="页脚占位符 3">
            <a:extLst>
              <a:ext uri="{FF2B5EF4-FFF2-40B4-BE49-F238E27FC236}">
                <a16:creationId xmlns:a16="http://schemas.microsoft.com/office/drawing/2014/main" id="{CC1748A1-5CAE-4EDA-B142-D922C3BBB75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D9B28FA-A0BE-41C5-8565-8A02054E8F5B}"/>
              </a:ext>
            </a:extLst>
          </p:cNvPr>
          <p:cNvSpPr>
            <a:spLocks noGrp="1"/>
          </p:cNvSpPr>
          <p:nvPr>
            <p:ph type="sldNum" sz="quarter" idx="12"/>
          </p:nvPr>
        </p:nvSpPr>
        <p:spPr/>
        <p:txBody>
          <a:bodyPr/>
          <a:lstStyle/>
          <a:p>
            <a:fld id="{5DD37F63-26C8-41AD-8D7D-91734BE4BBCE}" type="slidenum">
              <a:rPr lang="zh-CN" altLang="en-US" smtClean="0"/>
              <a:t>‹#›</a:t>
            </a:fld>
            <a:endParaRPr lang="zh-CN" altLang="en-US"/>
          </a:p>
        </p:txBody>
      </p:sp>
    </p:spTree>
    <p:extLst>
      <p:ext uri="{BB962C8B-B14F-4D97-AF65-F5344CB8AC3E}">
        <p14:creationId xmlns:p14="http://schemas.microsoft.com/office/powerpoint/2010/main" val="2213416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05CE52C-5F2D-4736-BF1F-2D2B712097CF}"/>
              </a:ext>
            </a:extLst>
          </p:cNvPr>
          <p:cNvSpPr>
            <a:spLocks noGrp="1"/>
          </p:cNvSpPr>
          <p:nvPr>
            <p:ph type="dt" sz="half" idx="10"/>
          </p:nvPr>
        </p:nvSpPr>
        <p:spPr/>
        <p:txBody>
          <a:bodyPr/>
          <a:lstStyle/>
          <a:p>
            <a:fld id="{1355D31F-6343-45BE-BF09-235967A8B230}" type="datetimeFigureOut">
              <a:rPr lang="zh-CN" altLang="en-US" smtClean="0"/>
              <a:t>2021/2/19</a:t>
            </a:fld>
            <a:endParaRPr lang="zh-CN" altLang="en-US"/>
          </a:p>
        </p:txBody>
      </p:sp>
      <p:sp>
        <p:nvSpPr>
          <p:cNvPr id="3" name="页脚占位符 2">
            <a:extLst>
              <a:ext uri="{FF2B5EF4-FFF2-40B4-BE49-F238E27FC236}">
                <a16:creationId xmlns:a16="http://schemas.microsoft.com/office/drawing/2014/main" id="{79193B1B-A87C-49E2-A401-51592603AA3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16AE4D3-AA6B-415D-816B-4D2E49A74A6D}"/>
              </a:ext>
            </a:extLst>
          </p:cNvPr>
          <p:cNvSpPr>
            <a:spLocks noGrp="1"/>
          </p:cNvSpPr>
          <p:nvPr>
            <p:ph type="sldNum" sz="quarter" idx="12"/>
          </p:nvPr>
        </p:nvSpPr>
        <p:spPr/>
        <p:txBody>
          <a:bodyPr/>
          <a:lstStyle/>
          <a:p>
            <a:fld id="{5DD37F63-26C8-41AD-8D7D-91734BE4BBCE}" type="slidenum">
              <a:rPr lang="zh-CN" altLang="en-US" smtClean="0"/>
              <a:t>‹#›</a:t>
            </a:fld>
            <a:endParaRPr lang="zh-CN" altLang="en-US"/>
          </a:p>
        </p:txBody>
      </p:sp>
    </p:spTree>
    <p:extLst>
      <p:ext uri="{BB962C8B-B14F-4D97-AF65-F5344CB8AC3E}">
        <p14:creationId xmlns:p14="http://schemas.microsoft.com/office/powerpoint/2010/main" val="1404378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C7E78D-4522-4CDF-A0F1-EA4B60D4197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48B0B1A-13A7-4DCE-B8CD-999F50AE5B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2416C33-AB40-4E7A-BFF1-DC344F3716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0367A7A-4DC4-4B8D-8551-99E06F553E94}"/>
              </a:ext>
            </a:extLst>
          </p:cNvPr>
          <p:cNvSpPr>
            <a:spLocks noGrp="1"/>
          </p:cNvSpPr>
          <p:nvPr>
            <p:ph type="dt" sz="half" idx="10"/>
          </p:nvPr>
        </p:nvSpPr>
        <p:spPr/>
        <p:txBody>
          <a:bodyPr/>
          <a:lstStyle/>
          <a:p>
            <a:fld id="{1355D31F-6343-45BE-BF09-235967A8B230}" type="datetimeFigureOut">
              <a:rPr lang="zh-CN" altLang="en-US" smtClean="0"/>
              <a:t>2021/2/19</a:t>
            </a:fld>
            <a:endParaRPr lang="zh-CN" altLang="en-US"/>
          </a:p>
        </p:txBody>
      </p:sp>
      <p:sp>
        <p:nvSpPr>
          <p:cNvPr id="6" name="页脚占位符 5">
            <a:extLst>
              <a:ext uri="{FF2B5EF4-FFF2-40B4-BE49-F238E27FC236}">
                <a16:creationId xmlns:a16="http://schemas.microsoft.com/office/drawing/2014/main" id="{102AC12F-7608-4D9E-90C5-D289494B529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3E8846C-F129-418E-9BD4-5F8DB280C379}"/>
              </a:ext>
            </a:extLst>
          </p:cNvPr>
          <p:cNvSpPr>
            <a:spLocks noGrp="1"/>
          </p:cNvSpPr>
          <p:nvPr>
            <p:ph type="sldNum" sz="quarter" idx="12"/>
          </p:nvPr>
        </p:nvSpPr>
        <p:spPr/>
        <p:txBody>
          <a:bodyPr/>
          <a:lstStyle/>
          <a:p>
            <a:fld id="{5DD37F63-26C8-41AD-8D7D-91734BE4BBCE}" type="slidenum">
              <a:rPr lang="zh-CN" altLang="en-US" smtClean="0"/>
              <a:t>‹#›</a:t>
            </a:fld>
            <a:endParaRPr lang="zh-CN" altLang="en-US"/>
          </a:p>
        </p:txBody>
      </p:sp>
    </p:spTree>
    <p:extLst>
      <p:ext uri="{BB962C8B-B14F-4D97-AF65-F5344CB8AC3E}">
        <p14:creationId xmlns:p14="http://schemas.microsoft.com/office/powerpoint/2010/main" val="765869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D3E708-92B6-4CED-994C-B593078CBFA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9371738-FEB1-45BC-9AC9-571C20D3C1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925B32B-144B-4685-BF05-A78BD1F048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C0B871F-2E5E-494A-9733-FA6D4440BB0C}"/>
              </a:ext>
            </a:extLst>
          </p:cNvPr>
          <p:cNvSpPr>
            <a:spLocks noGrp="1"/>
          </p:cNvSpPr>
          <p:nvPr>
            <p:ph type="dt" sz="half" idx="10"/>
          </p:nvPr>
        </p:nvSpPr>
        <p:spPr/>
        <p:txBody>
          <a:bodyPr/>
          <a:lstStyle/>
          <a:p>
            <a:fld id="{1355D31F-6343-45BE-BF09-235967A8B230}" type="datetimeFigureOut">
              <a:rPr lang="zh-CN" altLang="en-US" smtClean="0"/>
              <a:t>2021/2/19</a:t>
            </a:fld>
            <a:endParaRPr lang="zh-CN" altLang="en-US"/>
          </a:p>
        </p:txBody>
      </p:sp>
      <p:sp>
        <p:nvSpPr>
          <p:cNvPr id="6" name="页脚占位符 5">
            <a:extLst>
              <a:ext uri="{FF2B5EF4-FFF2-40B4-BE49-F238E27FC236}">
                <a16:creationId xmlns:a16="http://schemas.microsoft.com/office/drawing/2014/main" id="{04F4C32B-D25E-4B1A-A78B-C29E751E5C3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19D5EA7-24F9-413E-9B3F-48CBC2F14148}"/>
              </a:ext>
            </a:extLst>
          </p:cNvPr>
          <p:cNvSpPr>
            <a:spLocks noGrp="1"/>
          </p:cNvSpPr>
          <p:nvPr>
            <p:ph type="sldNum" sz="quarter" idx="12"/>
          </p:nvPr>
        </p:nvSpPr>
        <p:spPr/>
        <p:txBody>
          <a:bodyPr/>
          <a:lstStyle/>
          <a:p>
            <a:fld id="{5DD37F63-26C8-41AD-8D7D-91734BE4BBCE}" type="slidenum">
              <a:rPr lang="zh-CN" altLang="en-US" smtClean="0"/>
              <a:t>‹#›</a:t>
            </a:fld>
            <a:endParaRPr lang="zh-CN" altLang="en-US"/>
          </a:p>
        </p:txBody>
      </p:sp>
    </p:spTree>
    <p:extLst>
      <p:ext uri="{BB962C8B-B14F-4D97-AF65-F5344CB8AC3E}">
        <p14:creationId xmlns:p14="http://schemas.microsoft.com/office/powerpoint/2010/main" val="1900014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FCE977-68CA-45A0-82A0-A07BF38DF21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04AAE72-A7AD-4279-BA29-2B570537842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60F9FCC-EDFE-43E8-8D80-25710A7FA572}"/>
              </a:ext>
            </a:extLst>
          </p:cNvPr>
          <p:cNvSpPr>
            <a:spLocks noGrp="1"/>
          </p:cNvSpPr>
          <p:nvPr>
            <p:ph type="dt" sz="half" idx="10"/>
          </p:nvPr>
        </p:nvSpPr>
        <p:spPr/>
        <p:txBody>
          <a:bodyPr/>
          <a:lstStyle/>
          <a:p>
            <a:fld id="{1355D31F-6343-45BE-BF09-235967A8B230}" type="datetimeFigureOut">
              <a:rPr lang="zh-CN" altLang="en-US" smtClean="0"/>
              <a:t>2021/2/19</a:t>
            </a:fld>
            <a:endParaRPr lang="zh-CN" altLang="en-US"/>
          </a:p>
        </p:txBody>
      </p:sp>
      <p:sp>
        <p:nvSpPr>
          <p:cNvPr id="5" name="页脚占位符 4">
            <a:extLst>
              <a:ext uri="{FF2B5EF4-FFF2-40B4-BE49-F238E27FC236}">
                <a16:creationId xmlns:a16="http://schemas.microsoft.com/office/drawing/2014/main" id="{B4D81D3D-B7B3-4D56-BCA9-F989F928AA0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B7E2B12-CDCC-4248-900B-3D075FC7B270}"/>
              </a:ext>
            </a:extLst>
          </p:cNvPr>
          <p:cNvSpPr>
            <a:spLocks noGrp="1"/>
          </p:cNvSpPr>
          <p:nvPr>
            <p:ph type="sldNum" sz="quarter" idx="12"/>
          </p:nvPr>
        </p:nvSpPr>
        <p:spPr/>
        <p:txBody>
          <a:bodyPr/>
          <a:lstStyle/>
          <a:p>
            <a:fld id="{5DD37F63-26C8-41AD-8D7D-91734BE4BBCE}" type="slidenum">
              <a:rPr lang="zh-CN" altLang="en-US" smtClean="0"/>
              <a:t>‹#›</a:t>
            </a:fld>
            <a:endParaRPr lang="zh-CN" altLang="en-US"/>
          </a:p>
        </p:txBody>
      </p:sp>
    </p:spTree>
    <p:extLst>
      <p:ext uri="{BB962C8B-B14F-4D97-AF65-F5344CB8AC3E}">
        <p14:creationId xmlns:p14="http://schemas.microsoft.com/office/powerpoint/2010/main" val="3271396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9752AE6-30FD-4633-A48A-34ACC83814B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0CC4134-66D7-4B35-B3B3-75AFBA72509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4B7A601-A892-476E-AB5D-1FE65B12602E}"/>
              </a:ext>
            </a:extLst>
          </p:cNvPr>
          <p:cNvSpPr>
            <a:spLocks noGrp="1"/>
          </p:cNvSpPr>
          <p:nvPr>
            <p:ph type="dt" sz="half" idx="10"/>
          </p:nvPr>
        </p:nvSpPr>
        <p:spPr/>
        <p:txBody>
          <a:bodyPr/>
          <a:lstStyle/>
          <a:p>
            <a:fld id="{1355D31F-6343-45BE-BF09-235967A8B230}" type="datetimeFigureOut">
              <a:rPr lang="zh-CN" altLang="en-US" smtClean="0"/>
              <a:t>2021/2/19</a:t>
            </a:fld>
            <a:endParaRPr lang="zh-CN" altLang="en-US"/>
          </a:p>
        </p:txBody>
      </p:sp>
      <p:sp>
        <p:nvSpPr>
          <p:cNvPr id="5" name="页脚占位符 4">
            <a:extLst>
              <a:ext uri="{FF2B5EF4-FFF2-40B4-BE49-F238E27FC236}">
                <a16:creationId xmlns:a16="http://schemas.microsoft.com/office/drawing/2014/main" id="{06FF7152-91F4-420A-A083-E28E5DA4530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3744970-3FC9-4582-AB10-4DE8BA7BA169}"/>
              </a:ext>
            </a:extLst>
          </p:cNvPr>
          <p:cNvSpPr>
            <a:spLocks noGrp="1"/>
          </p:cNvSpPr>
          <p:nvPr>
            <p:ph type="sldNum" sz="quarter" idx="12"/>
          </p:nvPr>
        </p:nvSpPr>
        <p:spPr/>
        <p:txBody>
          <a:bodyPr/>
          <a:lstStyle/>
          <a:p>
            <a:fld id="{5DD37F63-26C8-41AD-8D7D-91734BE4BBCE}" type="slidenum">
              <a:rPr lang="zh-CN" altLang="en-US" smtClean="0"/>
              <a:t>‹#›</a:t>
            </a:fld>
            <a:endParaRPr lang="zh-CN" altLang="en-US"/>
          </a:p>
        </p:txBody>
      </p:sp>
    </p:spTree>
    <p:extLst>
      <p:ext uri="{BB962C8B-B14F-4D97-AF65-F5344CB8AC3E}">
        <p14:creationId xmlns:p14="http://schemas.microsoft.com/office/powerpoint/2010/main" val="1940088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6C1363B-DBFE-44DB-8681-B996E346B1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0EFF8D-7A91-4E2E-A889-03B2170641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ACAC31-42EA-4A11-AEE7-27B3A4EDB9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55D31F-6343-45BE-BF09-235967A8B230}" type="datetimeFigureOut">
              <a:rPr lang="zh-CN" altLang="en-US" smtClean="0"/>
              <a:t>2021/2/19</a:t>
            </a:fld>
            <a:endParaRPr lang="zh-CN" altLang="en-US"/>
          </a:p>
        </p:txBody>
      </p:sp>
      <p:sp>
        <p:nvSpPr>
          <p:cNvPr id="5" name="页脚占位符 4">
            <a:extLst>
              <a:ext uri="{FF2B5EF4-FFF2-40B4-BE49-F238E27FC236}">
                <a16:creationId xmlns:a16="http://schemas.microsoft.com/office/drawing/2014/main" id="{BED5CC07-4CC4-4A5D-86B8-3F27E87EFA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CAA8300-8116-4738-AC9C-E0A389C50D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D37F63-26C8-41AD-8D7D-91734BE4BBCE}" type="slidenum">
              <a:rPr lang="zh-CN" altLang="en-US" smtClean="0"/>
              <a:t>‹#›</a:t>
            </a:fld>
            <a:endParaRPr lang="zh-CN" altLang="en-US"/>
          </a:p>
        </p:txBody>
      </p:sp>
    </p:spTree>
    <p:extLst>
      <p:ext uri="{BB962C8B-B14F-4D97-AF65-F5344CB8AC3E}">
        <p14:creationId xmlns:p14="http://schemas.microsoft.com/office/powerpoint/2010/main" val="2129937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11A9288-F857-4329-802E-799C0C0EF7EB}"/>
              </a:ext>
            </a:extLst>
          </p:cNvPr>
          <p:cNvSpPr txBox="1"/>
          <p:nvPr/>
        </p:nvSpPr>
        <p:spPr>
          <a:xfrm>
            <a:off x="1108363" y="415637"/>
            <a:ext cx="9753600" cy="923330"/>
          </a:xfrm>
          <a:prstGeom prst="rect">
            <a:avLst/>
          </a:prstGeom>
          <a:noFill/>
        </p:spPr>
        <p:txBody>
          <a:bodyPr wrap="square" rtlCol="0">
            <a:spAutoFit/>
          </a:bodyPr>
          <a:lstStyle/>
          <a:p>
            <a:pPr algn="ctr"/>
            <a:r>
              <a:rPr lang="en-US" altLang="zh-CN" sz="5400" dirty="0"/>
              <a:t> </a:t>
            </a:r>
            <a:r>
              <a:rPr lang="zh-CN" altLang="en-US" sz="5400" dirty="0"/>
              <a:t>一、</a:t>
            </a:r>
            <a:r>
              <a:rPr lang="zh-CN" altLang="en-US" sz="5400" b="1" dirty="0"/>
              <a:t>什么是因特网</a:t>
            </a:r>
            <a:r>
              <a:rPr lang="zh-CN" altLang="en-US" sz="1600" dirty="0"/>
              <a:t>因特网是最大的互联网</a:t>
            </a:r>
            <a:endParaRPr lang="zh-CN" altLang="en-US" sz="5400" dirty="0"/>
          </a:p>
        </p:txBody>
      </p:sp>
      <p:sp>
        <p:nvSpPr>
          <p:cNvPr id="5" name="文本框 4">
            <a:extLst>
              <a:ext uri="{FF2B5EF4-FFF2-40B4-BE49-F238E27FC236}">
                <a16:creationId xmlns:a16="http://schemas.microsoft.com/office/drawing/2014/main" id="{2497C2FA-98B1-4816-ABE0-C7A330AB9BE0}"/>
              </a:ext>
            </a:extLst>
          </p:cNvPr>
          <p:cNvSpPr txBox="1"/>
          <p:nvPr/>
        </p:nvSpPr>
        <p:spPr>
          <a:xfrm>
            <a:off x="1191491" y="1902692"/>
            <a:ext cx="9975273" cy="738664"/>
          </a:xfrm>
          <a:prstGeom prst="rect">
            <a:avLst/>
          </a:prstGeom>
          <a:noFill/>
        </p:spPr>
        <p:txBody>
          <a:bodyPr wrap="square" rtlCol="0">
            <a:spAutoFit/>
          </a:bodyPr>
          <a:lstStyle/>
          <a:p>
            <a:r>
              <a:rPr lang="zh-CN" altLang="en-US" sz="2400" dirty="0"/>
              <a:t>因特网：</a:t>
            </a:r>
            <a:r>
              <a:rPr lang="en-US" altLang="zh-CN" dirty="0"/>
              <a:t>1</a:t>
            </a:r>
            <a:r>
              <a:rPr lang="zh-CN" altLang="en-US" dirty="0"/>
              <a:t>、一个把各个网络连接起来的网络，由许多计算机和电缆组成。</a:t>
            </a:r>
            <a:endParaRPr lang="en-US" altLang="zh-CN" dirty="0"/>
          </a:p>
          <a:p>
            <a:r>
              <a:rPr lang="en-US" altLang="zh-CN" dirty="0"/>
              <a:t>                    2</a:t>
            </a:r>
            <a:r>
              <a:rPr lang="zh-CN" altLang="en-US" dirty="0"/>
              <a:t>、因特网描述为应用程序的平台</a:t>
            </a:r>
          </a:p>
        </p:txBody>
      </p:sp>
      <p:sp>
        <p:nvSpPr>
          <p:cNvPr id="7" name="文本框 6">
            <a:extLst>
              <a:ext uri="{FF2B5EF4-FFF2-40B4-BE49-F238E27FC236}">
                <a16:creationId xmlns:a16="http://schemas.microsoft.com/office/drawing/2014/main" id="{38173BCD-0657-4F2A-801B-6B7DB73238C5}"/>
              </a:ext>
            </a:extLst>
          </p:cNvPr>
          <p:cNvSpPr txBox="1"/>
          <p:nvPr/>
        </p:nvSpPr>
        <p:spPr>
          <a:xfrm>
            <a:off x="1191491" y="3205081"/>
            <a:ext cx="8174182" cy="461665"/>
          </a:xfrm>
          <a:prstGeom prst="rect">
            <a:avLst/>
          </a:prstGeom>
          <a:noFill/>
        </p:spPr>
        <p:txBody>
          <a:bodyPr wrap="square" rtlCol="0">
            <a:spAutoFit/>
          </a:bodyPr>
          <a:lstStyle/>
          <a:p>
            <a:r>
              <a:rPr lang="zh-CN" altLang="en-US" sz="2400" dirty="0"/>
              <a:t>万维网：</a:t>
            </a:r>
            <a:r>
              <a:rPr lang="zh-CN" altLang="en-US" dirty="0"/>
              <a:t>一个许多相互连接的超文本组成，通过互联网访问。</a:t>
            </a:r>
            <a:endParaRPr lang="zh-CN" altLang="en-US" sz="2400" dirty="0"/>
          </a:p>
        </p:txBody>
      </p:sp>
      <p:sp>
        <p:nvSpPr>
          <p:cNvPr id="9" name="文本框 8">
            <a:extLst>
              <a:ext uri="{FF2B5EF4-FFF2-40B4-BE49-F238E27FC236}">
                <a16:creationId xmlns:a16="http://schemas.microsoft.com/office/drawing/2014/main" id="{73608D26-A37E-48E6-81D3-DA3440D0486A}"/>
              </a:ext>
            </a:extLst>
          </p:cNvPr>
          <p:cNvSpPr txBox="1"/>
          <p:nvPr/>
        </p:nvSpPr>
        <p:spPr>
          <a:xfrm>
            <a:off x="1191491" y="4230471"/>
            <a:ext cx="7333673" cy="461665"/>
          </a:xfrm>
          <a:prstGeom prst="rect">
            <a:avLst/>
          </a:prstGeom>
          <a:noFill/>
        </p:spPr>
        <p:txBody>
          <a:bodyPr wrap="square" rtlCol="0">
            <a:spAutoFit/>
          </a:bodyPr>
          <a:lstStyle/>
          <a:p>
            <a:r>
              <a:rPr lang="zh-CN" altLang="en-US" sz="2400" dirty="0"/>
              <a:t>具体构成：</a:t>
            </a:r>
            <a:r>
              <a:rPr lang="zh-CN" altLang="en-US" dirty="0"/>
              <a:t>世界范围的计算机网络。（主机或端系统）</a:t>
            </a:r>
            <a:endParaRPr lang="zh-CN" altLang="en-US" sz="2400" dirty="0"/>
          </a:p>
        </p:txBody>
      </p:sp>
      <p:sp>
        <p:nvSpPr>
          <p:cNvPr id="10" name="文本框 9">
            <a:extLst>
              <a:ext uri="{FF2B5EF4-FFF2-40B4-BE49-F238E27FC236}">
                <a16:creationId xmlns:a16="http://schemas.microsoft.com/office/drawing/2014/main" id="{92BA28CF-9FD6-4CE8-B03C-9B66D31987AF}"/>
              </a:ext>
            </a:extLst>
          </p:cNvPr>
          <p:cNvSpPr txBox="1"/>
          <p:nvPr/>
        </p:nvSpPr>
        <p:spPr>
          <a:xfrm>
            <a:off x="1274618" y="5273964"/>
            <a:ext cx="9023927" cy="461665"/>
          </a:xfrm>
          <a:prstGeom prst="rect">
            <a:avLst/>
          </a:prstGeom>
          <a:noFill/>
        </p:spPr>
        <p:txBody>
          <a:bodyPr wrap="square" rtlCol="0">
            <a:spAutoFit/>
          </a:bodyPr>
          <a:lstStyle/>
          <a:p>
            <a:r>
              <a:rPr lang="zh-CN" altLang="en-US" sz="2400" b="1" dirty="0"/>
              <a:t>端系统</a:t>
            </a:r>
            <a:r>
              <a:rPr lang="zh-CN" altLang="en-US" sz="2400" dirty="0"/>
              <a:t>通过</a:t>
            </a:r>
            <a:r>
              <a:rPr lang="zh-CN" altLang="en-US" sz="2400" b="1" dirty="0"/>
              <a:t>通信链路</a:t>
            </a:r>
            <a:r>
              <a:rPr lang="zh-CN" altLang="en-US" sz="2400" dirty="0"/>
              <a:t>和</a:t>
            </a:r>
            <a:r>
              <a:rPr lang="zh-CN" altLang="en-US" sz="2400" b="1" dirty="0"/>
              <a:t>分组交换机</a:t>
            </a:r>
            <a:r>
              <a:rPr lang="zh-CN" altLang="en-US" sz="2400" dirty="0"/>
              <a:t>连接在一起</a:t>
            </a:r>
          </a:p>
        </p:txBody>
      </p:sp>
    </p:spTree>
    <p:extLst>
      <p:ext uri="{BB962C8B-B14F-4D97-AF65-F5344CB8AC3E}">
        <p14:creationId xmlns:p14="http://schemas.microsoft.com/office/powerpoint/2010/main" val="2291797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646473-10CD-45DF-8856-DFAF89D55066}"/>
              </a:ext>
            </a:extLst>
          </p:cNvPr>
          <p:cNvSpPr txBox="1"/>
          <p:nvPr/>
        </p:nvSpPr>
        <p:spPr>
          <a:xfrm>
            <a:off x="1440873" y="628072"/>
            <a:ext cx="9374909" cy="461665"/>
          </a:xfrm>
          <a:prstGeom prst="rect">
            <a:avLst/>
          </a:prstGeom>
          <a:noFill/>
        </p:spPr>
        <p:txBody>
          <a:bodyPr wrap="square" rtlCol="0">
            <a:spAutoFit/>
          </a:bodyPr>
          <a:lstStyle/>
          <a:p>
            <a:r>
              <a:rPr lang="zh-CN" altLang="en-US" sz="2400" dirty="0"/>
              <a:t>通信链路</a:t>
            </a:r>
            <a:r>
              <a:rPr lang="zh-CN" altLang="en-US" sz="2400" dirty="0">
                <a:sym typeface="Wingdings" panose="05000000000000000000" pitchFamily="2" charset="2"/>
              </a:rPr>
              <a:t>（物理媒介）：</a:t>
            </a:r>
            <a:r>
              <a:rPr lang="zh-CN" altLang="en-US" dirty="0">
                <a:sym typeface="Wingdings" panose="05000000000000000000" pitchFamily="2" charset="2"/>
              </a:rPr>
              <a:t>同轴电缆，铜线，光纤，无线电频谱</a:t>
            </a:r>
            <a:r>
              <a:rPr lang="en-US" altLang="zh-CN" dirty="0">
                <a:sym typeface="Wingdings" panose="05000000000000000000" pitchFamily="2" charset="2"/>
              </a:rPr>
              <a:t>……</a:t>
            </a:r>
            <a:endParaRPr lang="zh-CN" altLang="en-US" sz="2400" dirty="0"/>
          </a:p>
        </p:txBody>
      </p:sp>
      <p:sp>
        <p:nvSpPr>
          <p:cNvPr id="5" name="文本框 4">
            <a:extLst>
              <a:ext uri="{FF2B5EF4-FFF2-40B4-BE49-F238E27FC236}">
                <a16:creationId xmlns:a16="http://schemas.microsoft.com/office/drawing/2014/main" id="{6074E460-2772-4FC4-AB1B-36B3D27002FF}"/>
              </a:ext>
            </a:extLst>
          </p:cNvPr>
          <p:cNvSpPr txBox="1"/>
          <p:nvPr/>
        </p:nvSpPr>
        <p:spPr>
          <a:xfrm>
            <a:off x="1440873" y="1588655"/>
            <a:ext cx="8201891" cy="461665"/>
          </a:xfrm>
          <a:prstGeom prst="rect">
            <a:avLst/>
          </a:prstGeom>
          <a:noFill/>
        </p:spPr>
        <p:txBody>
          <a:bodyPr wrap="square" rtlCol="0">
            <a:spAutoFit/>
          </a:bodyPr>
          <a:lstStyle/>
          <a:p>
            <a:r>
              <a:rPr lang="zh-CN" altLang="en-US" sz="2400" dirty="0"/>
              <a:t>分组交换机：</a:t>
            </a:r>
            <a:r>
              <a:rPr lang="zh-CN" altLang="en-US" dirty="0"/>
              <a:t>路由器，链路层交换机</a:t>
            </a:r>
            <a:r>
              <a:rPr lang="en-US" altLang="zh-CN" dirty="0"/>
              <a:t>……</a:t>
            </a:r>
            <a:endParaRPr lang="zh-CN" altLang="en-US" sz="2400" dirty="0"/>
          </a:p>
        </p:txBody>
      </p:sp>
      <p:sp>
        <p:nvSpPr>
          <p:cNvPr id="6" name="文本框 5">
            <a:extLst>
              <a:ext uri="{FF2B5EF4-FFF2-40B4-BE49-F238E27FC236}">
                <a16:creationId xmlns:a16="http://schemas.microsoft.com/office/drawing/2014/main" id="{FB1D6FD7-93CF-4D83-AC89-8B5E2E21B528}"/>
              </a:ext>
            </a:extLst>
          </p:cNvPr>
          <p:cNvSpPr txBox="1"/>
          <p:nvPr/>
        </p:nvSpPr>
        <p:spPr>
          <a:xfrm>
            <a:off x="1440873" y="2549238"/>
            <a:ext cx="8866909" cy="461665"/>
          </a:xfrm>
          <a:prstGeom prst="rect">
            <a:avLst/>
          </a:prstGeom>
          <a:noFill/>
        </p:spPr>
        <p:txBody>
          <a:bodyPr wrap="square" rtlCol="0">
            <a:spAutoFit/>
          </a:bodyPr>
          <a:lstStyle/>
          <a:p>
            <a:r>
              <a:rPr lang="zh-CN" altLang="en-US" sz="2400" dirty="0"/>
              <a:t>路径：</a:t>
            </a:r>
            <a:r>
              <a:rPr lang="zh-CN" altLang="en-US" dirty="0"/>
              <a:t>一个分组经历的一系列通信链路和分组交换机。</a:t>
            </a:r>
            <a:endParaRPr lang="zh-CN" altLang="en-US" sz="2400" dirty="0"/>
          </a:p>
        </p:txBody>
      </p:sp>
      <p:sp>
        <p:nvSpPr>
          <p:cNvPr id="7" name="文本框 6">
            <a:extLst>
              <a:ext uri="{FF2B5EF4-FFF2-40B4-BE49-F238E27FC236}">
                <a16:creationId xmlns:a16="http://schemas.microsoft.com/office/drawing/2014/main" id="{82FB9DEB-4CA0-4CE8-88C0-8E41043780ED}"/>
              </a:ext>
            </a:extLst>
          </p:cNvPr>
          <p:cNvSpPr txBox="1"/>
          <p:nvPr/>
        </p:nvSpPr>
        <p:spPr>
          <a:xfrm>
            <a:off x="1440873" y="3749964"/>
            <a:ext cx="8996218" cy="1200329"/>
          </a:xfrm>
          <a:prstGeom prst="rect">
            <a:avLst/>
          </a:prstGeom>
          <a:noFill/>
        </p:spPr>
        <p:txBody>
          <a:bodyPr wrap="square" rtlCol="0">
            <a:spAutoFit/>
          </a:bodyPr>
          <a:lstStyle/>
          <a:p>
            <a:r>
              <a:rPr lang="en-US" altLang="zh-CN" dirty="0"/>
              <a:t>ISP(Internet service provider)</a:t>
            </a:r>
            <a:r>
              <a:rPr lang="zh-CN" altLang="en-US" dirty="0"/>
              <a:t>：英特网服务提供商</a:t>
            </a:r>
            <a:endParaRPr lang="en-US" altLang="zh-CN" dirty="0"/>
          </a:p>
          <a:p>
            <a:r>
              <a:rPr lang="en-US" altLang="zh-CN" dirty="0"/>
              <a:t>TCP(transmission control protocol)</a:t>
            </a:r>
            <a:r>
              <a:rPr lang="zh-CN" altLang="en-US" dirty="0"/>
              <a:t>：传输控制协议</a:t>
            </a:r>
            <a:endParaRPr lang="en-US" altLang="zh-CN" dirty="0"/>
          </a:p>
          <a:p>
            <a:r>
              <a:rPr lang="en-US" altLang="zh-CN" dirty="0"/>
              <a:t>IP(Internet protocol)</a:t>
            </a:r>
            <a:r>
              <a:rPr lang="zh-CN" altLang="en-US" dirty="0"/>
              <a:t>：网际协议</a:t>
            </a:r>
            <a:endParaRPr lang="en-US" altLang="zh-CN" dirty="0"/>
          </a:p>
          <a:p>
            <a:r>
              <a:rPr lang="en-US" altLang="zh-CN" dirty="0"/>
              <a:t>IETF(Internet Engineering Task Force)</a:t>
            </a:r>
            <a:r>
              <a:rPr lang="zh-CN" altLang="en-US" dirty="0"/>
              <a:t>：因特网工程任务组，其标准文件称为</a:t>
            </a:r>
            <a:r>
              <a:rPr lang="zh-CN" altLang="en-US" b="1" dirty="0"/>
              <a:t>请求评论</a:t>
            </a:r>
          </a:p>
        </p:txBody>
      </p:sp>
    </p:spTree>
    <p:extLst>
      <p:ext uri="{BB962C8B-B14F-4D97-AF65-F5344CB8AC3E}">
        <p14:creationId xmlns:p14="http://schemas.microsoft.com/office/powerpoint/2010/main" val="4107685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0EC8AF0-C4B8-4AF9-96E7-06BF848B3E09}"/>
              </a:ext>
            </a:extLst>
          </p:cNvPr>
          <p:cNvSpPr txBox="1"/>
          <p:nvPr/>
        </p:nvSpPr>
        <p:spPr>
          <a:xfrm>
            <a:off x="1376218" y="674255"/>
            <a:ext cx="9411855" cy="461665"/>
          </a:xfrm>
          <a:prstGeom prst="rect">
            <a:avLst/>
          </a:prstGeom>
          <a:noFill/>
        </p:spPr>
        <p:txBody>
          <a:bodyPr wrap="square" rtlCol="0">
            <a:spAutoFit/>
          </a:bodyPr>
          <a:lstStyle/>
          <a:p>
            <a:r>
              <a:rPr lang="zh-CN" altLang="en-US" sz="2400" dirty="0"/>
              <a:t>分布式应用程序：</a:t>
            </a:r>
            <a:r>
              <a:rPr lang="zh-CN" altLang="en-US" dirty="0"/>
              <a:t>涉及多个相互交换数据的端系统的应用程序。</a:t>
            </a:r>
            <a:endParaRPr lang="zh-CN" altLang="en-US" sz="2400" dirty="0"/>
          </a:p>
        </p:txBody>
      </p:sp>
      <p:sp>
        <p:nvSpPr>
          <p:cNvPr id="3" name="文本框 2">
            <a:extLst>
              <a:ext uri="{FF2B5EF4-FFF2-40B4-BE49-F238E27FC236}">
                <a16:creationId xmlns:a16="http://schemas.microsoft.com/office/drawing/2014/main" id="{12A74E9B-3279-4D9A-9B08-A95D5CF8E017}"/>
              </a:ext>
            </a:extLst>
          </p:cNvPr>
          <p:cNvSpPr txBox="1"/>
          <p:nvPr/>
        </p:nvSpPr>
        <p:spPr>
          <a:xfrm>
            <a:off x="1376218" y="1736436"/>
            <a:ext cx="9347200" cy="738664"/>
          </a:xfrm>
          <a:prstGeom prst="rect">
            <a:avLst/>
          </a:prstGeom>
          <a:noFill/>
        </p:spPr>
        <p:txBody>
          <a:bodyPr wrap="square" rtlCol="0">
            <a:spAutoFit/>
          </a:bodyPr>
          <a:lstStyle/>
          <a:p>
            <a:r>
              <a:rPr lang="zh-CN" altLang="en-US" sz="2400" dirty="0"/>
              <a:t>套接字接口：</a:t>
            </a:r>
            <a:r>
              <a:rPr lang="zh-CN" altLang="en-US" dirty="0"/>
              <a:t>规定了运行在一个端系统上的程序请求因特网基础设施向运行在另一个端系统上的特定目的地程序交付数据的方式。</a:t>
            </a:r>
            <a:endParaRPr lang="zh-CN" altLang="en-US" sz="2400" dirty="0"/>
          </a:p>
        </p:txBody>
      </p:sp>
      <p:sp>
        <p:nvSpPr>
          <p:cNvPr id="4" name="文本框 3">
            <a:extLst>
              <a:ext uri="{FF2B5EF4-FFF2-40B4-BE49-F238E27FC236}">
                <a16:creationId xmlns:a16="http://schemas.microsoft.com/office/drawing/2014/main" id="{6561E26D-10D4-4394-BE59-B7C827646A7F}"/>
              </a:ext>
            </a:extLst>
          </p:cNvPr>
          <p:cNvSpPr txBox="1"/>
          <p:nvPr/>
        </p:nvSpPr>
        <p:spPr>
          <a:xfrm>
            <a:off x="1376218" y="3075616"/>
            <a:ext cx="10178472" cy="738664"/>
          </a:xfrm>
          <a:prstGeom prst="rect">
            <a:avLst/>
          </a:prstGeom>
          <a:noFill/>
        </p:spPr>
        <p:txBody>
          <a:bodyPr wrap="square" rtlCol="0">
            <a:spAutoFit/>
          </a:bodyPr>
          <a:lstStyle/>
          <a:p>
            <a:r>
              <a:rPr lang="zh-CN" altLang="en-US" sz="2400" dirty="0"/>
              <a:t>协议</a:t>
            </a:r>
            <a:r>
              <a:rPr lang="en-US" altLang="zh-CN" sz="2400" dirty="0"/>
              <a:t>(protocol)</a:t>
            </a:r>
            <a:r>
              <a:rPr lang="zh-CN" altLang="en-US" sz="2400" dirty="0"/>
              <a:t>：</a:t>
            </a:r>
            <a:r>
              <a:rPr lang="zh-CN" altLang="en-US" dirty="0"/>
              <a:t>定义了两个或多个通信实体之间交换的报文的格式和顺序，以及报文发送和</a:t>
            </a:r>
            <a:r>
              <a:rPr lang="en-US" altLang="zh-CN" dirty="0"/>
              <a:t>/</a:t>
            </a:r>
            <a:r>
              <a:rPr lang="zh-CN" altLang="en-US" dirty="0"/>
              <a:t>或接受一条报文或其他事件所采取的行动</a:t>
            </a:r>
            <a:endParaRPr lang="zh-CN" altLang="en-US" sz="2400" dirty="0"/>
          </a:p>
        </p:txBody>
      </p:sp>
      <p:sp>
        <p:nvSpPr>
          <p:cNvPr id="5" name="文本框 4">
            <a:extLst>
              <a:ext uri="{FF2B5EF4-FFF2-40B4-BE49-F238E27FC236}">
                <a16:creationId xmlns:a16="http://schemas.microsoft.com/office/drawing/2014/main" id="{C9027464-4E07-4486-99C3-71B10C9BDFBC}"/>
              </a:ext>
            </a:extLst>
          </p:cNvPr>
          <p:cNvSpPr txBox="1"/>
          <p:nvPr/>
        </p:nvSpPr>
        <p:spPr>
          <a:xfrm>
            <a:off x="1376218" y="4461164"/>
            <a:ext cx="10178472" cy="461665"/>
          </a:xfrm>
          <a:prstGeom prst="rect">
            <a:avLst/>
          </a:prstGeom>
          <a:noFill/>
        </p:spPr>
        <p:txBody>
          <a:bodyPr wrap="square" rtlCol="0">
            <a:spAutoFit/>
          </a:bodyPr>
          <a:lstStyle/>
          <a:p>
            <a:r>
              <a:rPr lang="zh-CN" altLang="en-US" sz="2400" dirty="0"/>
              <a:t>接入网：</a:t>
            </a:r>
            <a:r>
              <a:rPr lang="zh-CN" altLang="en-US" dirty="0"/>
              <a:t>将端系统物理连接到其边缘路由器的网络</a:t>
            </a:r>
            <a:endParaRPr lang="zh-CN" altLang="en-US" sz="2400" dirty="0"/>
          </a:p>
        </p:txBody>
      </p:sp>
      <p:sp>
        <p:nvSpPr>
          <p:cNvPr id="6" name="文本框 5">
            <a:extLst>
              <a:ext uri="{FF2B5EF4-FFF2-40B4-BE49-F238E27FC236}">
                <a16:creationId xmlns:a16="http://schemas.microsoft.com/office/drawing/2014/main" id="{0EE9CCB6-12C2-4F4E-B199-A7880C4F1529}"/>
              </a:ext>
            </a:extLst>
          </p:cNvPr>
          <p:cNvSpPr txBox="1"/>
          <p:nvPr/>
        </p:nvSpPr>
        <p:spPr>
          <a:xfrm>
            <a:off x="1468582" y="5477164"/>
            <a:ext cx="9319491" cy="369332"/>
          </a:xfrm>
          <a:prstGeom prst="rect">
            <a:avLst/>
          </a:prstGeom>
          <a:noFill/>
        </p:spPr>
        <p:txBody>
          <a:bodyPr wrap="square" rtlCol="0">
            <a:spAutoFit/>
          </a:bodyPr>
          <a:lstStyle/>
          <a:p>
            <a:r>
              <a:rPr lang="en-US" altLang="zh-CN" dirty="0"/>
              <a:t>DSL(Digital Subscriber Line)</a:t>
            </a:r>
            <a:r>
              <a:rPr lang="zh-CN" altLang="en-US" dirty="0"/>
              <a:t>：数字用户线</a:t>
            </a:r>
          </a:p>
        </p:txBody>
      </p:sp>
    </p:spTree>
    <p:extLst>
      <p:ext uri="{BB962C8B-B14F-4D97-AF65-F5344CB8AC3E}">
        <p14:creationId xmlns:p14="http://schemas.microsoft.com/office/powerpoint/2010/main" val="3403884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1AC13F4-4969-4409-A4DF-50A398DB04B2}"/>
              </a:ext>
            </a:extLst>
          </p:cNvPr>
          <p:cNvSpPr txBox="1"/>
          <p:nvPr/>
        </p:nvSpPr>
        <p:spPr>
          <a:xfrm>
            <a:off x="637308" y="637310"/>
            <a:ext cx="10492509" cy="584775"/>
          </a:xfrm>
          <a:prstGeom prst="rect">
            <a:avLst/>
          </a:prstGeom>
          <a:noFill/>
        </p:spPr>
        <p:txBody>
          <a:bodyPr wrap="square" rtlCol="0">
            <a:spAutoFit/>
          </a:bodyPr>
          <a:lstStyle/>
          <a:p>
            <a:pPr algn="ctr"/>
            <a:r>
              <a:rPr lang="zh-CN" altLang="en-US" sz="3200" b="1" dirty="0"/>
              <a:t>家庭接入种类</a:t>
            </a:r>
          </a:p>
        </p:txBody>
      </p:sp>
      <p:sp>
        <p:nvSpPr>
          <p:cNvPr id="3" name="文本框 2">
            <a:extLst>
              <a:ext uri="{FF2B5EF4-FFF2-40B4-BE49-F238E27FC236}">
                <a16:creationId xmlns:a16="http://schemas.microsoft.com/office/drawing/2014/main" id="{3F0FA6C0-341E-41D1-ADFD-4666E4D6695A}"/>
              </a:ext>
            </a:extLst>
          </p:cNvPr>
          <p:cNvSpPr txBox="1"/>
          <p:nvPr/>
        </p:nvSpPr>
        <p:spPr>
          <a:xfrm>
            <a:off x="1477819" y="1496291"/>
            <a:ext cx="8977746" cy="923330"/>
          </a:xfrm>
          <a:prstGeom prst="rect">
            <a:avLst/>
          </a:prstGeom>
          <a:noFill/>
        </p:spPr>
        <p:txBody>
          <a:bodyPr wrap="square" rtlCol="0">
            <a:spAutoFit/>
          </a:bodyPr>
          <a:lstStyle/>
          <a:p>
            <a:r>
              <a:rPr lang="zh-CN" altLang="en-US" dirty="0"/>
              <a:t>一、数字用户线</a:t>
            </a:r>
            <a:r>
              <a:rPr lang="en-US" altLang="zh-CN" dirty="0"/>
              <a:t>DSL</a:t>
            </a:r>
            <a:r>
              <a:rPr lang="zh-CN" altLang="en-US" dirty="0"/>
              <a:t>：与位于电话公司的本地中心局中的</a:t>
            </a:r>
            <a:r>
              <a:rPr lang="zh-CN" altLang="en-US" b="1" dirty="0"/>
              <a:t>数字用户接入复用器</a:t>
            </a:r>
            <a:r>
              <a:rPr lang="en-US" altLang="zh-CN" b="1" dirty="0"/>
              <a:t>(DSLAM)</a:t>
            </a:r>
          </a:p>
          <a:p>
            <a:r>
              <a:rPr lang="zh-CN" altLang="en-US" dirty="0"/>
              <a:t>交换数据，家庭的</a:t>
            </a:r>
            <a:r>
              <a:rPr lang="en-US" altLang="zh-CN" dirty="0"/>
              <a:t>DSL</a:t>
            </a:r>
            <a:r>
              <a:rPr lang="zh-CN" altLang="en-US" dirty="0"/>
              <a:t>调制解调器得到数字数据后转换为高频音，通过电话线传输给本地中心局（</a:t>
            </a:r>
            <a:r>
              <a:rPr lang="zh-CN" altLang="en-US" b="1" dirty="0"/>
              <a:t>双绞铜线</a:t>
            </a:r>
            <a:r>
              <a:rPr lang="zh-CN" altLang="en-US" dirty="0"/>
              <a:t>）</a:t>
            </a:r>
          </a:p>
        </p:txBody>
      </p:sp>
      <p:sp>
        <p:nvSpPr>
          <p:cNvPr id="4" name="文本框 3">
            <a:extLst>
              <a:ext uri="{FF2B5EF4-FFF2-40B4-BE49-F238E27FC236}">
                <a16:creationId xmlns:a16="http://schemas.microsoft.com/office/drawing/2014/main" id="{C2486E57-7C44-4D5E-8BB0-D9F60CAE8D6B}"/>
              </a:ext>
            </a:extLst>
          </p:cNvPr>
          <p:cNvSpPr txBox="1"/>
          <p:nvPr/>
        </p:nvSpPr>
        <p:spPr>
          <a:xfrm>
            <a:off x="1477817" y="2447637"/>
            <a:ext cx="8977745" cy="1200329"/>
          </a:xfrm>
          <a:prstGeom prst="rect">
            <a:avLst/>
          </a:prstGeom>
          <a:noFill/>
        </p:spPr>
        <p:txBody>
          <a:bodyPr wrap="square" rtlCol="0">
            <a:spAutoFit/>
          </a:bodyPr>
          <a:lstStyle/>
          <a:p>
            <a:r>
              <a:rPr lang="zh-CN" altLang="en-US" dirty="0"/>
              <a:t>二、电缆：利用有线电视公司现有的有线电视基础设施。光纤和电缆</a:t>
            </a:r>
            <a:r>
              <a:rPr lang="en-US" altLang="zh-CN" dirty="0"/>
              <a:t>(</a:t>
            </a:r>
            <a:r>
              <a:rPr lang="zh-CN" altLang="en-US" dirty="0"/>
              <a:t>混合光纤同轴系统，</a:t>
            </a:r>
            <a:r>
              <a:rPr lang="en-US" altLang="zh-CN" dirty="0"/>
              <a:t>HFC)</a:t>
            </a:r>
            <a:r>
              <a:rPr lang="zh-CN" altLang="en-US" dirty="0"/>
              <a:t>，在电缆头端，</a:t>
            </a:r>
            <a:r>
              <a:rPr lang="zh-CN" altLang="en-US" b="1" dirty="0"/>
              <a:t>电缆调制解调器端接系统</a:t>
            </a:r>
            <a:r>
              <a:rPr lang="en-US" altLang="zh-CN" b="1" dirty="0"/>
              <a:t>(CMTS)</a:t>
            </a:r>
            <a:r>
              <a:rPr lang="zh-CN" altLang="en-US" dirty="0"/>
              <a:t>与</a:t>
            </a:r>
            <a:r>
              <a:rPr lang="en-US" altLang="zh-CN" dirty="0"/>
              <a:t>DSL</a:t>
            </a:r>
            <a:r>
              <a:rPr lang="zh-CN" altLang="en-US" dirty="0"/>
              <a:t>的</a:t>
            </a:r>
            <a:r>
              <a:rPr lang="en-US" altLang="zh-CN" b="1" dirty="0"/>
              <a:t>DSLAM</a:t>
            </a:r>
            <a:r>
              <a:rPr lang="zh-CN" altLang="en-US" dirty="0"/>
              <a:t>有类似的功能</a:t>
            </a:r>
            <a:r>
              <a:rPr lang="en-US" altLang="zh-CN" dirty="0"/>
              <a:t>,CMTS</a:t>
            </a:r>
            <a:r>
              <a:rPr lang="zh-CN" altLang="en-US" dirty="0"/>
              <a:t>将网络划分为上行和下行两个信道，下行比上行快。（用户之间会相互影响网速）（</a:t>
            </a:r>
            <a:r>
              <a:rPr lang="zh-CN" altLang="en-US" b="1" dirty="0"/>
              <a:t>混合光纤同轴</a:t>
            </a:r>
            <a:r>
              <a:rPr lang="en-US" altLang="zh-CN" b="1" dirty="0"/>
              <a:t>=</a:t>
            </a:r>
            <a:r>
              <a:rPr lang="zh-CN" altLang="en-US" b="1" dirty="0"/>
              <a:t>光纤</a:t>
            </a:r>
            <a:r>
              <a:rPr lang="en-US" altLang="zh-CN" b="1" dirty="0"/>
              <a:t>+</a:t>
            </a:r>
            <a:r>
              <a:rPr lang="zh-CN" altLang="en-US" b="1" dirty="0"/>
              <a:t>同轴电缆</a:t>
            </a:r>
            <a:r>
              <a:rPr lang="zh-CN" altLang="en-US" dirty="0"/>
              <a:t>）</a:t>
            </a:r>
          </a:p>
        </p:txBody>
      </p:sp>
      <p:sp>
        <p:nvSpPr>
          <p:cNvPr id="5" name="文本框 4">
            <a:extLst>
              <a:ext uri="{FF2B5EF4-FFF2-40B4-BE49-F238E27FC236}">
                <a16:creationId xmlns:a16="http://schemas.microsoft.com/office/drawing/2014/main" id="{393C7AB5-6C8D-414C-8434-354BB1D9AE13}"/>
              </a:ext>
            </a:extLst>
          </p:cNvPr>
          <p:cNvSpPr txBox="1"/>
          <p:nvPr/>
        </p:nvSpPr>
        <p:spPr>
          <a:xfrm>
            <a:off x="1477817" y="3712652"/>
            <a:ext cx="8756073" cy="646331"/>
          </a:xfrm>
          <a:prstGeom prst="rect">
            <a:avLst/>
          </a:prstGeom>
          <a:noFill/>
        </p:spPr>
        <p:txBody>
          <a:bodyPr wrap="square" rtlCol="0">
            <a:spAutoFit/>
          </a:bodyPr>
          <a:lstStyle/>
          <a:p>
            <a:r>
              <a:rPr lang="zh-CN" altLang="en-US" dirty="0"/>
              <a:t>三、光纤到户</a:t>
            </a:r>
            <a:r>
              <a:rPr lang="en-US" altLang="zh-CN" dirty="0"/>
              <a:t>FTTH(Fiber To The Home)</a:t>
            </a:r>
            <a:r>
              <a:rPr lang="zh-CN" altLang="en-US" dirty="0"/>
              <a:t>：两种分配体系，</a:t>
            </a:r>
            <a:r>
              <a:rPr lang="zh-CN" altLang="en-US" b="1" dirty="0"/>
              <a:t>有源光纤网络</a:t>
            </a:r>
            <a:r>
              <a:rPr lang="en-US" altLang="zh-CN" b="1" dirty="0"/>
              <a:t>AON</a:t>
            </a:r>
            <a:r>
              <a:rPr lang="zh-CN" altLang="en-US" dirty="0"/>
              <a:t>，</a:t>
            </a:r>
            <a:r>
              <a:rPr lang="zh-CN" altLang="en-US" b="1" dirty="0"/>
              <a:t>无源光纤网络</a:t>
            </a:r>
            <a:r>
              <a:rPr lang="en-US" altLang="zh-CN" b="1" dirty="0"/>
              <a:t>PON </a:t>
            </a:r>
            <a:r>
              <a:rPr lang="zh-CN" altLang="en-US" dirty="0"/>
              <a:t>（</a:t>
            </a:r>
            <a:r>
              <a:rPr lang="zh-CN" altLang="en-US" b="1" dirty="0"/>
              <a:t>光纤</a:t>
            </a:r>
            <a:r>
              <a:rPr lang="zh-CN" altLang="en-US" dirty="0"/>
              <a:t>）</a:t>
            </a:r>
          </a:p>
        </p:txBody>
      </p:sp>
      <p:sp>
        <p:nvSpPr>
          <p:cNvPr id="6" name="文本框 5">
            <a:extLst>
              <a:ext uri="{FF2B5EF4-FFF2-40B4-BE49-F238E27FC236}">
                <a16:creationId xmlns:a16="http://schemas.microsoft.com/office/drawing/2014/main" id="{893630C2-2807-4275-8B63-88A370374F7A}"/>
              </a:ext>
            </a:extLst>
          </p:cNvPr>
          <p:cNvSpPr txBox="1"/>
          <p:nvPr/>
        </p:nvSpPr>
        <p:spPr>
          <a:xfrm>
            <a:off x="1477817" y="4688852"/>
            <a:ext cx="9651999" cy="369332"/>
          </a:xfrm>
          <a:prstGeom prst="rect">
            <a:avLst/>
          </a:prstGeom>
          <a:noFill/>
        </p:spPr>
        <p:txBody>
          <a:bodyPr wrap="square" rtlCol="0">
            <a:spAutoFit/>
          </a:bodyPr>
          <a:lstStyle/>
          <a:p>
            <a:r>
              <a:rPr lang="zh-CN" altLang="en-US" dirty="0"/>
              <a:t>四、拨号：</a:t>
            </a:r>
            <a:r>
              <a:rPr lang="en-US" altLang="zh-CN" dirty="0"/>
              <a:t>56kbps</a:t>
            </a:r>
            <a:r>
              <a:rPr lang="zh-CN" altLang="en-US" dirty="0"/>
              <a:t>，与</a:t>
            </a:r>
            <a:r>
              <a:rPr lang="en-US" altLang="zh-CN" dirty="0"/>
              <a:t>DSL</a:t>
            </a:r>
            <a:r>
              <a:rPr lang="zh-CN" altLang="en-US" dirty="0"/>
              <a:t>是同样的模式（</a:t>
            </a:r>
            <a:r>
              <a:rPr lang="zh-CN" altLang="en-US" b="1" dirty="0"/>
              <a:t>双绞铜线</a:t>
            </a:r>
            <a:r>
              <a:rPr lang="zh-CN" altLang="en-US" dirty="0"/>
              <a:t>）</a:t>
            </a:r>
          </a:p>
        </p:txBody>
      </p:sp>
      <p:sp>
        <p:nvSpPr>
          <p:cNvPr id="7" name="文本框 6">
            <a:extLst>
              <a:ext uri="{FF2B5EF4-FFF2-40B4-BE49-F238E27FC236}">
                <a16:creationId xmlns:a16="http://schemas.microsoft.com/office/drawing/2014/main" id="{581F870B-C13B-4F87-A2AB-2FBA25F4406B}"/>
              </a:ext>
            </a:extLst>
          </p:cNvPr>
          <p:cNvSpPr txBox="1"/>
          <p:nvPr/>
        </p:nvSpPr>
        <p:spPr>
          <a:xfrm>
            <a:off x="1477818" y="5532581"/>
            <a:ext cx="9494982" cy="369332"/>
          </a:xfrm>
          <a:prstGeom prst="rect">
            <a:avLst/>
          </a:prstGeom>
          <a:noFill/>
        </p:spPr>
        <p:txBody>
          <a:bodyPr wrap="square" rtlCol="0">
            <a:spAutoFit/>
          </a:bodyPr>
          <a:lstStyle/>
          <a:p>
            <a:r>
              <a:rPr lang="zh-CN" altLang="en-US" dirty="0"/>
              <a:t>五、卫星</a:t>
            </a:r>
            <a:r>
              <a:rPr lang="en-US" altLang="zh-CN" dirty="0">
                <a:sym typeface="Wingdings" panose="05000000000000000000" pitchFamily="2" charset="2"/>
              </a:rPr>
              <a:t>(</a:t>
            </a:r>
            <a:r>
              <a:rPr lang="zh-CN" altLang="en-US" dirty="0">
                <a:sym typeface="Wingdings" panose="05000000000000000000" pitchFamily="2" charset="2"/>
              </a:rPr>
              <a:t>在无法提供</a:t>
            </a:r>
            <a:r>
              <a:rPr lang="en-US" altLang="zh-CN" dirty="0">
                <a:sym typeface="Wingdings" panose="05000000000000000000" pitchFamily="2" charset="2"/>
              </a:rPr>
              <a:t>DSL</a:t>
            </a:r>
            <a:r>
              <a:rPr lang="zh-CN" altLang="en-US" dirty="0">
                <a:sym typeface="Wingdings" panose="05000000000000000000" pitchFamily="2" charset="2"/>
              </a:rPr>
              <a:t>、电缆、</a:t>
            </a:r>
            <a:r>
              <a:rPr lang="en-US" altLang="zh-CN" dirty="0">
                <a:sym typeface="Wingdings" panose="05000000000000000000" pitchFamily="2" charset="2"/>
              </a:rPr>
              <a:t>FTTH</a:t>
            </a:r>
            <a:r>
              <a:rPr lang="zh-CN" altLang="en-US" dirty="0">
                <a:sym typeface="Wingdings" panose="05000000000000000000" pitchFamily="2" charset="2"/>
              </a:rPr>
              <a:t>的地方</a:t>
            </a:r>
            <a:r>
              <a:rPr lang="en-US" altLang="zh-CN" dirty="0">
                <a:sym typeface="Wingdings" panose="05000000000000000000" pitchFamily="2" charset="2"/>
              </a:rPr>
              <a:t>)</a:t>
            </a:r>
            <a:r>
              <a:rPr lang="zh-CN" altLang="en-US" dirty="0">
                <a:sym typeface="Wingdings" panose="05000000000000000000" pitchFamily="2" charset="2"/>
              </a:rPr>
              <a:t>，</a:t>
            </a:r>
            <a:r>
              <a:rPr lang="en-US" altLang="zh-CN" dirty="0">
                <a:sym typeface="Wingdings" panose="05000000000000000000" pitchFamily="2" charset="2"/>
              </a:rPr>
              <a:t>1Mbps</a:t>
            </a:r>
            <a:r>
              <a:rPr lang="zh-CN" altLang="en-US" dirty="0">
                <a:sym typeface="Wingdings" panose="05000000000000000000" pitchFamily="2" charset="2"/>
              </a:rPr>
              <a:t>（</a:t>
            </a:r>
            <a:r>
              <a:rPr lang="zh-CN" altLang="en-US" b="1" dirty="0">
                <a:sym typeface="Wingdings" panose="05000000000000000000" pitchFamily="2" charset="2"/>
              </a:rPr>
              <a:t>卫星无线电频谱</a:t>
            </a:r>
            <a:r>
              <a:rPr lang="zh-CN" altLang="en-US" dirty="0">
                <a:sym typeface="Wingdings" panose="05000000000000000000" pitchFamily="2" charset="2"/>
              </a:rPr>
              <a:t>）</a:t>
            </a:r>
            <a:endParaRPr lang="zh-CN" altLang="en-US" dirty="0"/>
          </a:p>
        </p:txBody>
      </p:sp>
    </p:spTree>
    <p:extLst>
      <p:ext uri="{BB962C8B-B14F-4D97-AF65-F5344CB8AC3E}">
        <p14:creationId xmlns:p14="http://schemas.microsoft.com/office/powerpoint/2010/main" val="2326742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78059A8-5FB0-401D-A41D-20B39ED1DFEC}"/>
              </a:ext>
            </a:extLst>
          </p:cNvPr>
          <p:cNvSpPr txBox="1"/>
          <p:nvPr/>
        </p:nvSpPr>
        <p:spPr>
          <a:xfrm>
            <a:off x="655782" y="812800"/>
            <a:ext cx="10926618" cy="461665"/>
          </a:xfrm>
          <a:prstGeom prst="rect">
            <a:avLst/>
          </a:prstGeom>
          <a:noFill/>
        </p:spPr>
        <p:txBody>
          <a:bodyPr wrap="square" rtlCol="0">
            <a:spAutoFit/>
          </a:bodyPr>
          <a:lstStyle/>
          <a:p>
            <a:pPr algn="ctr"/>
            <a:r>
              <a:rPr lang="zh-CN" altLang="en-US" sz="2400" dirty="0"/>
              <a:t>企业</a:t>
            </a:r>
            <a:r>
              <a:rPr lang="en-US" altLang="zh-CN" sz="2400" dirty="0"/>
              <a:t>(</a:t>
            </a:r>
            <a:r>
              <a:rPr lang="zh-CN" altLang="en-US" sz="2400" dirty="0"/>
              <a:t>和家庭</a:t>
            </a:r>
            <a:r>
              <a:rPr lang="en-US" altLang="zh-CN" sz="2400" dirty="0"/>
              <a:t>)</a:t>
            </a:r>
            <a:r>
              <a:rPr lang="zh-CN" altLang="en-US" sz="2400" dirty="0"/>
              <a:t>接入：以太网和</a:t>
            </a:r>
            <a:r>
              <a:rPr lang="en-US" altLang="zh-CN" sz="2400" dirty="0"/>
              <a:t>WIFI</a:t>
            </a:r>
            <a:endParaRPr lang="zh-CN" altLang="en-US" sz="2400" dirty="0"/>
          </a:p>
        </p:txBody>
      </p:sp>
      <p:sp>
        <p:nvSpPr>
          <p:cNvPr id="3" name="文本框 2">
            <a:extLst>
              <a:ext uri="{FF2B5EF4-FFF2-40B4-BE49-F238E27FC236}">
                <a16:creationId xmlns:a16="http://schemas.microsoft.com/office/drawing/2014/main" id="{2F6C423C-B440-4059-8A14-E46881816019}"/>
              </a:ext>
            </a:extLst>
          </p:cNvPr>
          <p:cNvSpPr txBox="1"/>
          <p:nvPr/>
        </p:nvSpPr>
        <p:spPr>
          <a:xfrm>
            <a:off x="997527" y="1828799"/>
            <a:ext cx="9642764" cy="738664"/>
          </a:xfrm>
          <a:prstGeom prst="rect">
            <a:avLst/>
          </a:prstGeom>
          <a:noFill/>
        </p:spPr>
        <p:txBody>
          <a:bodyPr wrap="square" rtlCol="0">
            <a:spAutoFit/>
          </a:bodyPr>
          <a:lstStyle/>
          <a:p>
            <a:r>
              <a:rPr lang="zh-CN" altLang="en-US" sz="2400" dirty="0"/>
              <a:t>局域网：</a:t>
            </a:r>
            <a:r>
              <a:rPr lang="zh-CN" altLang="en-US" dirty="0"/>
              <a:t>以太网：以太网用户使用一条双绞铜线与一台以太网交换机相连。</a:t>
            </a:r>
            <a:r>
              <a:rPr lang="en-US" altLang="zh-CN" dirty="0"/>
              <a:t>(</a:t>
            </a:r>
            <a:r>
              <a:rPr lang="zh-CN" altLang="en-US" dirty="0"/>
              <a:t>网线</a:t>
            </a:r>
            <a:r>
              <a:rPr lang="en-US" altLang="zh-CN" dirty="0"/>
              <a:t>)</a:t>
            </a:r>
          </a:p>
          <a:p>
            <a:r>
              <a:rPr lang="en-US" altLang="zh-CN" dirty="0"/>
              <a:t>                    WIFI</a:t>
            </a:r>
            <a:r>
              <a:rPr lang="zh-CN" altLang="en-US" dirty="0"/>
              <a:t>：基于</a:t>
            </a:r>
            <a:r>
              <a:rPr lang="en-US" altLang="zh-CN" dirty="0"/>
              <a:t>IEEE</a:t>
            </a:r>
            <a:r>
              <a:rPr lang="zh-CN" altLang="en-US" dirty="0"/>
              <a:t>的</a:t>
            </a:r>
            <a:r>
              <a:rPr lang="en-US" altLang="zh-CN" dirty="0"/>
              <a:t>802.11</a:t>
            </a:r>
            <a:r>
              <a:rPr lang="zh-CN" altLang="en-US" dirty="0"/>
              <a:t>技术的无线</a:t>
            </a:r>
            <a:r>
              <a:rPr lang="en-US" altLang="zh-CN" dirty="0"/>
              <a:t>LAN</a:t>
            </a:r>
            <a:r>
              <a:rPr lang="zh-CN" altLang="en-US" dirty="0"/>
              <a:t>接入</a:t>
            </a:r>
            <a:endParaRPr lang="en-US" altLang="zh-CN" dirty="0"/>
          </a:p>
        </p:txBody>
      </p:sp>
      <p:sp>
        <p:nvSpPr>
          <p:cNvPr id="6" name="文本框 5">
            <a:extLst>
              <a:ext uri="{FF2B5EF4-FFF2-40B4-BE49-F238E27FC236}">
                <a16:creationId xmlns:a16="http://schemas.microsoft.com/office/drawing/2014/main" id="{BADDF4B2-DC4B-4D8B-9F92-92C8CDE99787}"/>
              </a:ext>
            </a:extLst>
          </p:cNvPr>
          <p:cNvSpPr txBox="1"/>
          <p:nvPr/>
        </p:nvSpPr>
        <p:spPr>
          <a:xfrm>
            <a:off x="997527" y="4064001"/>
            <a:ext cx="9679709" cy="1015663"/>
          </a:xfrm>
          <a:prstGeom prst="rect">
            <a:avLst/>
          </a:prstGeom>
          <a:noFill/>
        </p:spPr>
        <p:txBody>
          <a:bodyPr wrap="square" rtlCol="0">
            <a:spAutoFit/>
          </a:bodyPr>
          <a:lstStyle/>
          <a:p>
            <a:r>
              <a:rPr lang="zh-CN" altLang="en-US" sz="2400" dirty="0"/>
              <a:t>物理媒体：</a:t>
            </a:r>
            <a:r>
              <a:rPr lang="zh-CN" altLang="en-US" b="1" dirty="0"/>
              <a:t>导引型媒体：双绞铜线，同轴光缆，多模光纤维，陆地无线电频谱，卫星无线  </a:t>
            </a:r>
            <a:endParaRPr lang="en-US" altLang="zh-CN" b="1" dirty="0"/>
          </a:p>
          <a:p>
            <a:r>
              <a:rPr lang="en-US" altLang="zh-CN" b="1" dirty="0"/>
              <a:t>                                            </a:t>
            </a:r>
            <a:r>
              <a:rPr lang="zh-CN" altLang="en-US" b="1" dirty="0"/>
              <a:t>电频谱</a:t>
            </a:r>
            <a:r>
              <a:rPr lang="zh-CN" altLang="en-US" dirty="0"/>
              <a:t>（人工成本远高于材料成本）</a:t>
            </a:r>
            <a:endParaRPr lang="en-US" altLang="zh-CN" dirty="0"/>
          </a:p>
          <a:p>
            <a:r>
              <a:rPr lang="en-US" altLang="zh-CN" b="1" dirty="0"/>
              <a:t>	          </a:t>
            </a:r>
            <a:r>
              <a:rPr lang="zh-CN" altLang="en-US" b="1" dirty="0"/>
              <a:t>非导引型媒体：电波在空气中传播，无线局域网，数字卫星频道</a:t>
            </a:r>
          </a:p>
        </p:txBody>
      </p:sp>
    </p:spTree>
    <p:extLst>
      <p:ext uri="{BB962C8B-B14F-4D97-AF65-F5344CB8AC3E}">
        <p14:creationId xmlns:p14="http://schemas.microsoft.com/office/powerpoint/2010/main" val="1588267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F6BEFFA-F615-490C-B6E7-069A4B1F5A31}"/>
              </a:ext>
            </a:extLst>
          </p:cNvPr>
          <p:cNvSpPr txBox="1"/>
          <p:nvPr/>
        </p:nvSpPr>
        <p:spPr>
          <a:xfrm>
            <a:off x="1468580" y="572655"/>
            <a:ext cx="9679709" cy="584775"/>
          </a:xfrm>
          <a:prstGeom prst="rect">
            <a:avLst/>
          </a:prstGeom>
          <a:noFill/>
        </p:spPr>
        <p:txBody>
          <a:bodyPr wrap="square" rtlCol="0">
            <a:spAutoFit/>
          </a:bodyPr>
          <a:lstStyle/>
          <a:p>
            <a:pPr algn="ctr"/>
            <a:r>
              <a:rPr lang="zh-CN" altLang="en-US" sz="3200" b="1" dirty="0"/>
              <a:t>物理媒体</a:t>
            </a:r>
            <a:endParaRPr lang="zh-CN" altLang="en-US" sz="2400" b="1" dirty="0"/>
          </a:p>
        </p:txBody>
      </p:sp>
      <p:sp>
        <p:nvSpPr>
          <p:cNvPr id="4" name="文本框 3">
            <a:extLst>
              <a:ext uri="{FF2B5EF4-FFF2-40B4-BE49-F238E27FC236}">
                <a16:creationId xmlns:a16="http://schemas.microsoft.com/office/drawing/2014/main" id="{82C79D23-6C4F-4EE4-9E53-C7F5C7722473}"/>
              </a:ext>
            </a:extLst>
          </p:cNvPr>
          <p:cNvSpPr txBox="1"/>
          <p:nvPr/>
        </p:nvSpPr>
        <p:spPr>
          <a:xfrm>
            <a:off x="544943" y="1625004"/>
            <a:ext cx="10649528" cy="523220"/>
          </a:xfrm>
          <a:prstGeom prst="rect">
            <a:avLst/>
          </a:prstGeom>
          <a:noFill/>
        </p:spPr>
        <p:txBody>
          <a:bodyPr wrap="square" rtlCol="0">
            <a:spAutoFit/>
          </a:bodyPr>
          <a:lstStyle/>
          <a:p>
            <a:r>
              <a:rPr lang="zh-CN" altLang="en-US" sz="2800" dirty="0"/>
              <a:t>双绞铜线：</a:t>
            </a:r>
            <a:r>
              <a:rPr lang="zh-CN" altLang="en-US" sz="2000" dirty="0"/>
              <a:t>两根绝缘的铜线绞合而成，近距离，百米之类</a:t>
            </a:r>
            <a:endParaRPr lang="zh-CN" altLang="en-US" sz="2800" dirty="0"/>
          </a:p>
        </p:txBody>
      </p:sp>
      <p:sp>
        <p:nvSpPr>
          <p:cNvPr id="5" name="文本框 4">
            <a:extLst>
              <a:ext uri="{FF2B5EF4-FFF2-40B4-BE49-F238E27FC236}">
                <a16:creationId xmlns:a16="http://schemas.microsoft.com/office/drawing/2014/main" id="{97EB0E69-454D-42F9-B435-BB8073567FD7}"/>
              </a:ext>
            </a:extLst>
          </p:cNvPr>
          <p:cNvSpPr txBox="1"/>
          <p:nvPr/>
        </p:nvSpPr>
        <p:spPr>
          <a:xfrm>
            <a:off x="544943" y="2499806"/>
            <a:ext cx="10649528" cy="830997"/>
          </a:xfrm>
          <a:prstGeom prst="rect">
            <a:avLst/>
          </a:prstGeom>
          <a:noFill/>
        </p:spPr>
        <p:txBody>
          <a:bodyPr wrap="square" rtlCol="0">
            <a:spAutoFit/>
          </a:bodyPr>
          <a:lstStyle/>
          <a:p>
            <a:r>
              <a:rPr lang="zh-CN" altLang="en-US" sz="2800" dirty="0"/>
              <a:t>同轴光缆：</a:t>
            </a:r>
            <a:r>
              <a:rPr lang="zh-CN" altLang="en-US" sz="2000" dirty="0"/>
              <a:t>两个同心铜导体，高速，能被用作</a:t>
            </a:r>
            <a:r>
              <a:rPr lang="zh-CN" altLang="en-US" sz="2000" b="1" dirty="0"/>
              <a:t>引导性共享媒体，</a:t>
            </a:r>
            <a:r>
              <a:rPr lang="zh-CN" altLang="en-US" sz="2000" dirty="0"/>
              <a:t>许多端系统能直接与电缆   </a:t>
            </a:r>
            <a:endParaRPr lang="en-US" altLang="zh-CN" sz="2000" dirty="0"/>
          </a:p>
          <a:p>
            <a:r>
              <a:rPr lang="en-US" altLang="zh-CN" sz="2000" dirty="0"/>
              <a:t>                         </a:t>
            </a:r>
            <a:r>
              <a:rPr lang="zh-CN" altLang="en-US" sz="2000" dirty="0"/>
              <a:t>相连，每个端系统都能接受由其他端系统发送的内容</a:t>
            </a:r>
            <a:endParaRPr lang="zh-CN" altLang="en-US" sz="2800" b="1" dirty="0"/>
          </a:p>
        </p:txBody>
      </p:sp>
      <p:sp>
        <p:nvSpPr>
          <p:cNvPr id="6" name="文本框 5">
            <a:extLst>
              <a:ext uri="{FF2B5EF4-FFF2-40B4-BE49-F238E27FC236}">
                <a16:creationId xmlns:a16="http://schemas.microsoft.com/office/drawing/2014/main" id="{C53733F7-1627-4911-A4FE-FEA88697B694}"/>
              </a:ext>
            </a:extLst>
          </p:cNvPr>
          <p:cNvSpPr txBox="1"/>
          <p:nvPr/>
        </p:nvSpPr>
        <p:spPr>
          <a:xfrm>
            <a:off x="544943" y="3682385"/>
            <a:ext cx="10381671" cy="523220"/>
          </a:xfrm>
          <a:prstGeom prst="rect">
            <a:avLst/>
          </a:prstGeom>
          <a:noFill/>
        </p:spPr>
        <p:txBody>
          <a:bodyPr wrap="square" rtlCol="0">
            <a:spAutoFit/>
          </a:bodyPr>
          <a:lstStyle/>
          <a:p>
            <a:r>
              <a:rPr lang="zh-CN" altLang="en-US" sz="2800" dirty="0"/>
              <a:t>光纤：</a:t>
            </a:r>
            <a:r>
              <a:rPr lang="zh-CN" altLang="en-US" sz="2000" dirty="0"/>
              <a:t>光纤是一种细而柔软的、能够引导光脉冲的媒体，高速</a:t>
            </a:r>
            <a:endParaRPr lang="zh-CN" altLang="en-US" sz="2800" dirty="0"/>
          </a:p>
        </p:txBody>
      </p:sp>
      <p:sp>
        <p:nvSpPr>
          <p:cNvPr id="7" name="文本框 6">
            <a:extLst>
              <a:ext uri="{FF2B5EF4-FFF2-40B4-BE49-F238E27FC236}">
                <a16:creationId xmlns:a16="http://schemas.microsoft.com/office/drawing/2014/main" id="{B131B4FE-8BBF-48D0-869E-A4F475C46844}"/>
              </a:ext>
            </a:extLst>
          </p:cNvPr>
          <p:cNvSpPr txBox="1"/>
          <p:nvPr/>
        </p:nvSpPr>
        <p:spPr>
          <a:xfrm>
            <a:off x="544943" y="4584729"/>
            <a:ext cx="10474037" cy="461665"/>
          </a:xfrm>
          <a:prstGeom prst="rect">
            <a:avLst/>
          </a:prstGeom>
          <a:noFill/>
        </p:spPr>
        <p:txBody>
          <a:bodyPr wrap="square" rtlCol="0">
            <a:spAutoFit/>
          </a:bodyPr>
          <a:lstStyle/>
          <a:p>
            <a:r>
              <a:rPr lang="zh-CN" altLang="en-US" sz="2400" dirty="0"/>
              <a:t>陆地无线电信道：三类：很短距离、局域、广域</a:t>
            </a:r>
            <a:endParaRPr lang="en-US" altLang="zh-CN" sz="2400" dirty="0"/>
          </a:p>
        </p:txBody>
      </p:sp>
      <p:sp>
        <p:nvSpPr>
          <p:cNvPr id="8" name="文本框 7">
            <a:extLst>
              <a:ext uri="{FF2B5EF4-FFF2-40B4-BE49-F238E27FC236}">
                <a16:creationId xmlns:a16="http://schemas.microsoft.com/office/drawing/2014/main" id="{28C2DEE2-D7F4-4B32-A20E-97B6D6D9BA96}"/>
              </a:ext>
            </a:extLst>
          </p:cNvPr>
          <p:cNvSpPr txBox="1"/>
          <p:nvPr/>
        </p:nvSpPr>
        <p:spPr>
          <a:xfrm>
            <a:off x="544943" y="5425518"/>
            <a:ext cx="10557164" cy="461665"/>
          </a:xfrm>
          <a:prstGeom prst="rect">
            <a:avLst/>
          </a:prstGeom>
          <a:noFill/>
        </p:spPr>
        <p:txBody>
          <a:bodyPr wrap="square" rtlCol="0">
            <a:spAutoFit/>
          </a:bodyPr>
          <a:lstStyle/>
          <a:p>
            <a:r>
              <a:rPr lang="zh-CN" altLang="en-US" sz="2400" dirty="0"/>
              <a:t>卫星无线电信道：光域，覆盖广</a:t>
            </a:r>
          </a:p>
        </p:txBody>
      </p:sp>
    </p:spTree>
    <p:extLst>
      <p:ext uri="{BB962C8B-B14F-4D97-AF65-F5344CB8AC3E}">
        <p14:creationId xmlns:p14="http://schemas.microsoft.com/office/powerpoint/2010/main" val="747280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111F3C1-7A93-4C7E-BDFD-E155DFA4CC4C}"/>
              </a:ext>
            </a:extLst>
          </p:cNvPr>
          <p:cNvSpPr txBox="1"/>
          <p:nvPr/>
        </p:nvSpPr>
        <p:spPr>
          <a:xfrm>
            <a:off x="794327" y="720436"/>
            <a:ext cx="10751128" cy="584775"/>
          </a:xfrm>
          <a:prstGeom prst="rect">
            <a:avLst/>
          </a:prstGeom>
          <a:noFill/>
        </p:spPr>
        <p:txBody>
          <a:bodyPr wrap="square" rtlCol="0">
            <a:spAutoFit/>
          </a:bodyPr>
          <a:lstStyle/>
          <a:p>
            <a:pPr algn="ctr"/>
            <a:r>
              <a:rPr lang="zh-CN" altLang="en-US" sz="3200" b="1" dirty="0"/>
              <a:t>存储转发传输</a:t>
            </a:r>
          </a:p>
        </p:txBody>
      </p:sp>
      <p:sp>
        <p:nvSpPr>
          <p:cNvPr id="5" name="文本框 4">
            <a:extLst>
              <a:ext uri="{FF2B5EF4-FFF2-40B4-BE49-F238E27FC236}">
                <a16:creationId xmlns:a16="http://schemas.microsoft.com/office/drawing/2014/main" id="{11CA9DC7-25B2-4170-B58B-C79607DF221E}"/>
              </a:ext>
            </a:extLst>
          </p:cNvPr>
          <p:cNvSpPr txBox="1"/>
          <p:nvPr/>
        </p:nvSpPr>
        <p:spPr>
          <a:xfrm>
            <a:off x="1016000" y="3953164"/>
            <a:ext cx="10603345" cy="1384995"/>
          </a:xfrm>
          <a:prstGeom prst="rect">
            <a:avLst/>
          </a:prstGeom>
          <a:noFill/>
        </p:spPr>
        <p:txBody>
          <a:bodyPr wrap="square" rtlCol="0">
            <a:spAutoFit/>
          </a:bodyPr>
          <a:lstStyle/>
          <a:p>
            <a:r>
              <a:rPr lang="zh-CN" altLang="en-US" sz="2400" b="1" dirty="0"/>
              <a:t>排队时延和分组丢失：</a:t>
            </a:r>
            <a:r>
              <a:rPr lang="zh-CN" altLang="en-US" sz="2000" dirty="0"/>
              <a:t>每台分组交换机有多条链路与之相连，对于每条相连的链路，该分组交换机具有一个</a:t>
            </a:r>
            <a:r>
              <a:rPr lang="zh-CN" altLang="en-US" sz="2000" b="1" dirty="0"/>
              <a:t>输出缓存</a:t>
            </a:r>
            <a:r>
              <a:rPr lang="zh-CN" altLang="en-US" sz="2000" dirty="0"/>
              <a:t>也叫</a:t>
            </a:r>
            <a:r>
              <a:rPr lang="zh-CN" altLang="en-US" sz="2000" b="1" dirty="0"/>
              <a:t>输出队列，</a:t>
            </a:r>
            <a:r>
              <a:rPr lang="zh-CN" altLang="en-US" sz="2000" dirty="0"/>
              <a:t>除了存储转发延迟外，还有排队延迟，因为存储队列大小有限，当充满时会溢出，造成分组丢失</a:t>
            </a:r>
            <a:r>
              <a:rPr lang="en-US" altLang="zh-CN" sz="2000" dirty="0"/>
              <a:t>(</a:t>
            </a:r>
            <a:r>
              <a:rPr lang="zh-CN" altLang="en-US" sz="2000" dirty="0"/>
              <a:t>随机的，可能是已经到达的分组或者已经排队的分组</a:t>
            </a:r>
            <a:r>
              <a:rPr lang="en-US" altLang="zh-CN" sz="2000" dirty="0"/>
              <a:t>)</a:t>
            </a:r>
            <a:r>
              <a:rPr lang="zh-CN" altLang="en-US" sz="2000" dirty="0"/>
              <a:t>对于路由器来讲，输入速率大于输出速率会有问题。</a:t>
            </a:r>
            <a:endParaRPr lang="zh-CN" altLang="en-US" sz="2400" b="1" dirty="0"/>
          </a:p>
        </p:txBody>
      </p:sp>
      <p:sp>
        <p:nvSpPr>
          <p:cNvPr id="3" name="文本框 2">
            <a:extLst>
              <a:ext uri="{FF2B5EF4-FFF2-40B4-BE49-F238E27FC236}">
                <a16:creationId xmlns:a16="http://schemas.microsoft.com/office/drawing/2014/main" id="{E2920C31-AFF8-422B-847A-41B28F21ED66}"/>
              </a:ext>
            </a:extLst>
          </p:cNvPr>
          <p:cNvSpPr txBox="1"/>
          <p:nvPr/>
        </p:nvSpPr>
        <p:spPr>
          <a:xfrm>
            <a:off x="932873" y="1681018"/>
            <a:ext cx="9818254" cy="1015663"/>
          </a:xfrm>
          <a:prstGeom prst="rect">
            <a:avLst/>
          </a:prstGeom>
          <a:noFill/>
        </p:spPr>
        <p:txBody>
          <a:bodyPr wrap="square" rtlCol="0">
            <a:spAutoFit/>
          </a:bodyPr>
          <a:lstStyle/>
          <a:p>
            <a:r>
              <a:rPr lang="zh-CN" altLang="en-US" sz="2400" b="1" dirty="0"/>
              <a:t>存储转发传输机制：</a:t>
            </a:r>
            <a:r>
              <a:rPr lang="zh-CN" altLang="en-US" dirty="0"/>
              <a:t>多数分组交换机在链路的输入端使用存储转发传输机制。存储转发机制是指在交换机能够开始向输出链路传输该链路传输</a:t>
            </a:r>
            <a:r>
              <a:rPr lang="zh-CN" altLang="en-US" b="1" dirty="0"/>
              <a:t>该分组的第一个比特</a:t>
            </a:r>
            <a:r>
              <a:rPr lang="zh-CN" altLang="en-US" dirty="0"/>
              <a:t>之前，必须接收到整个</a:t>
            </a:r>
            <a:r>
              <a:rPr lang="zh-CN" altLang="en-US" b="1" dirty="0"/>
              <a:t>分组</a:t>
            </a:r>
          </a:p>
        </p:txBody>
      </p:sp>
      <p:sp>
        <p:nvSpPr>
          <p:cNvPr id="4" name="文本框 3">
            <a:extLst>
              <a:ext uri="{FF2B5EF4-FFF2-40B4-BE49-F238E27FC236}">
                <a16:creationId xmlns:a16="http://schemas.microsoft.com/office/drawing/2014/main" id="{1D00332C-4FE5-46A8-A0EA-AC69806B9B1A}"/>
              </a:ext>
            </a:extLst>
          </p:cNvPr>
          <p:cNvSpPr txBox="1"/>
          <p:nvPr/>
        </p:nvSpPr>
        <p:spPr>
          <a:xfrm>
            <a:off x="932873" y="2835564"/>
            <a:ext cx="10520218" cy="738664"/>
          </a:xfrm>
          <a:prstGeom prst="rect">
            <a:avLst/>
          </a:prstGeom>
          <a:noFill/>
        </p:spPr>
        <p:txBody>
          <a:bodyPr wrap="square" rtlCol="0">
            <a:spAutoFit/>
          </a:bodyPr>
          <a:lstStyle/>
          <a:p>
            <a:r>
              <a:rPr lang="zh-CN" altLang="en-US" sz="2400" b="1" dirty="0"/>
              <a:t>存储转发延迟：</a:t>
            </a:r>
            <a:r>
              <a:rPr lang="zh-CN" altLang="en-US" dirty="0"/>
              <a:t>例如：一个</a:t>
            </a:r>
            <a:r>
              <a:rPr lang="en-US" altLang="zh-CN" dirty="0"/>
              <a:t>L</a:t>
            </a:r>
            <a:r>
              <a:rPr lang="zh-CN" altLang="en-US" dirty="0"/>
              <a:t>比特的分组，链路传输速率为</a:t>
            </a:r>
            <a:r>
              <a:rPr lang="en-US" altLang="zh-CN" dirty="0"/>
              <a:t>R</a:t>
            </a:r>
            <a:r>
              <a:rPr lang="zh-CN" altLang="en-US" dirty="0"/>
              <a:t>，则存储转发延时为</a:t>
            </a:r>
            <a:r>
              <a:rPr lang="en-US" altLang="zh-CN" dirty="0"/>
              <a:t>2L/R,</a:t>
            </a:r>
            <a:r>
              <a:rPr lang="zh-CN" altLang="en-US" dirty="0"/>
              <a:t>如果有</a:t>
            </a:r>
            <a:r>
              <a:rPr lang="en-US" altLang="zh-CN" dirty="0"/>
              <a:t>N</a:t>
            </a:r>
            <a:r>
              <a:rPr lang="zh-CN" altLang="en-US" dirty="0"/>
              <a:t>条链路</a:t>
            </a:r>
            <a:r>
              <a:rPr lang="en-US" altLang="zh-CN" dirty="0"/>
              <a:t>(</a:t>
            </a:r>
            <a:r>
              <a:rPr lang="zh-CN" altLang="en-US" dirty="0"/>
              <a:t>非并列</a:t>
            </a:r>
            <a:r>
              <a:rPr lang="en-US" altLang="zh-CN" dirty="0"/>
              <a:t>)</a:t>
            </a:r>
            <a:r>
              <a:rPr lang="zh-CN" altLang="en-US" dirty="0"/>
              <a:t>则存储转发延迟为</a:t>
            </a:r>
            <a:r>
              <a:rPr lang="en-US" altLang="zh-CN" dirty="0"/>
              <a:t>NL/R</a:t>
            </a:r>
          </a:p>
        </p:txBody>
      </p:sp>
    </p:spTree>
    <p:extLst>
      <p:ext uri="{BB962C8B-B14F-4D97-AF65-F5344CB8AC3E}">
        <p14:creationId xmlns:p14="http://schemas.microsoft.com/office/powerpoint/2010/main" val="2347831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61E25DC-5055-4D66-9C20-8353911D4242}"/>
              </a:ext>
            </a:extLst>
          </p:cNvPr>
          <p:cNvSpPr txBox="1"/>
          <p:nvPr/>
        </p:nvSpPr>
        <p:spPr>
          <a:xfrm>
            <a:off x="1034474" y="415636"/>
            <a:ext cx="9845963" cy="584775"/>
          </a:xfrm>
          <a:prstGeom prst="rect">
            <a:avLst/>
          </a:prstGeom>
          <a:noFill/>
        </p:spPr>
        <p:txBody>
          <a:bodyPr wrap="square" rtlCol="0">
            <a:spAutoFit/>
          </a:bodyPr>
          <a:lstStyle/>
          <a:p>
            <a:pPr algn="ctr"/>
            <a:r>
              <a:rPr lang="zh-CN" altLang="en-US" sz="3200" b="1" dirty="0"/>
              <a:t>转发表和路由选择协议</a:t>
            </a:r>
          </a:p>
        </p:txBody>
      </p:sp>
      <p:sp>
        <p:nvSpPr>
          <p:cNvPr id="3" name="文本框 2">
            <a:extLst>
              <a:ext uri="{FF2B5EF4-FFF2-40B4-BE49-F238E27FC236}">
                <a16:creationId xmlns:a16="http://schemas.microsoft.com/office/drawing/2014/main" id="{D74B042C-6778-4461-8770-A177D5C584BE}"/>
              </a:ext>
            </a:extLst>
          </p:cNvPr>
          <p:cNvSpPr txBox="1"/>
          <p:nvPr/>
        </p:nvSpPr>
        <p:spPr>
          <a:xfrm>
            <a:off x="965200" y="1342479"/>
            <a:ext cx="10261600" cy="4524315"/>
          </a:xfrm>
          <a:prstGeom prst="rect">
            <a:avLst/>
          </a:prstGeom>
          <a:noFill/>
        </p:spPr>
        <p:txBody>
          <a:bodyPr wrap="square" rtlCol="0">
            <a:spAutoFit/>
          </a:bodyPr>
          <a:lstStyle/>
          <a:p>
            <a:r>
              <a:rPr lang="zh-CN" altLang="en-US" sz="1600" dirty="0"/>
              <a:t>每个端系统具有个称为 </a:t>
            </a:r>
            <a:r>
              <a:rPr lang="en-US" altLang="zh-CN" sz="1600" dirty="0"/>
              <a:t>IP</a:t>
            </a:r>
            <a:r>
              <a:rPr lang="zh-CN" altLang="en-US" sz="1600" dirty="0"/>
              <a:t>地址的地址。当源主机要向目的瑞系统发这个分组时， 源在该分组的首部包含了目的地的</a:t>
            </a:r>
            <a:r>
              <a:rPr lang="en-US" altLang="zh-CN" sz="1600" dirty="0"/>
              <a:t>P</a:t>
            </a:r>
            <a:r>
              <a:rPr lang="zh-CN" altLang="en-US" sz="1600" dirty="0"/>
              <a:t>地址。当一个分组到达网络中的路由器时，路由器检在该分组的目的地址的一部分， 并向一百相邻路由器转发该分组。更特别的是，每台路由器具有一个转发表，用于将目的地址</a:t>
            </a:r>
            <a:r>
              <a:rPr lang="en-US" altLang="zh-CN" sz="1600" dirty="0"/>
              <a:t>(</a:t>
            </a:r>
            <a:r>
              <a:rPr lang="zh-CN" altLang="en-US" sz="1600" dirty="0"/>
              <a:t>或目的地址的部分</a:t>
            </a:r>
            <a:r>
              <a:rPr lang="en-US" altLang="zh-CN" sz="1600" dirty="0"/>
              <a:t>) </a:t>
            </a:r>
            <a:r>
              <a:rPr lang="zh-CN" altLang="en-US" sz="1600" dirty="0"/>
              <a:t>映射成为输出链路。当某分组到达一台路由器时， 路由器检查该地址，并用这个目的地址搜索其转发表，以发现适当的出链路。路由器则将分组导向该出链路。</a:t>
            </a:r>
            <a:endParaRPr lang="en-US" altLang="zh-CN" sz="1600" dirty="0"/>
          </a:p>
          <a:p>
            <a:endParaRPr lang="en-US" altLang="zh-CN" sz="1600" dirty="0"/>
          </a:p>
          <a:p>
            <a:endParaRPr lang="en-US" altLang="zh-CN" sz="1600" dirty="0"/>
          </a:p>
          <a:p>
            <a:r>
              <a:rPr lang="zh-CN" altLang="en-US" sz="1600" dirty="0"/>
              <a:t>端到端选路过程可以用一个不使用地图而喜欢问路的汽车驾驶员来类比。</a:t>
            </a:r>
            <a:endParaRPr lang="en-US" altLang="zh-CN" sz="1600" dirty="0"/>
          </a:p>
          <a:p>
            <a:r>
              <a:rPr lang="zh-CN" altLang="en-US" sz="1600" dirty="0"/>
              <a:t>例如，假定</a:t>
            </a:r>
            <a:r>
              <a:rPr lang="en-US" altLang="zh-CN" sz="1600" dirty="0"/>
              <a:t>Joe</a:t>
            </a:r>
            <a:r>
              <a:rPr lang="zh-CN" altLang="en-US" sz="1600" dirty="0"/>
              <a:t>驾车从费城到佛罗里达州奥兰多市的</a:t>
            </a:r>
            <a:r>
              <a:rPr lang="en-US" altLang="zh-CN" sz="1600" dirty="0"/>
              <a:t>Lakeside Drive </a:t>
            </a:r>
            <a:r>
              <a:rPr lang="zh-CN" altLang="en-US" sz="1600" dirty="0"/>
              <a:t>街</a:t>
            </a:r>
            <a:r>
              <a:rPr lang="en-US" altLang="zh-CN" sz="1600" dirty="0"/>
              <a:t>156</a:t>
            </a:r>
            <a:r>
              <a:rPr lang="zh-CN" altLang="en-US" sz="1600" dirty="0"/>
              <a:t>号。</a:t>
            </a:r>
            <a:r>
              <a:rPr lang="en-US" altLang="zh-CN" sz="1600" dirty="0"/>
              <a:t>Joe </a:t>
            </a:r>
            <a:r>
              <a:rPr lang="zh-CN" altLang="en-US" sz="1600" dirty="0"/>
              <a:t>先驾车到附近的加油站，询问怎样才能到达佛罗里达州奥兰多市的</a:t>
            </a:r>
            <a:r>
              <a:rPr lang="en-US" altLang="zh-CN" sz="1600" dirty="0"/>
              <a:t>Lakeside Drive </a:t>
            </a:r>
            <a:r>
              <a:rPr lang="zh-CN" altLang="en-US" sz="1600" dirty="0"/>
              <a:t>街</a:t>
            </a:r>
            <a:r>
              <a:rPr lang="en-US" altLang="zh-CN" sz="1600" dirty="0"/>
              <a:t>156</a:t>
            </a:r>
            <a:r>
              <a:rPr lang="zh-CN" altLang="en-US" sz="1600" dirty="0"/>
              <a:t>号。加油站的服名员从该地址中抽取了佛罗里达州部分，告诉</a:t>
            </a:r>
            <a:r>
              <a:rPr lang="en-US" altLang="zh-CN" sz="1600" dirty="0"/>
              <a:t>Joe</a:t>
            </a:r>
            <a:r>
              <a:rPr lang="zh-CN" altLang="en-US" sz="1600" dirty="0"/>
              <a:t>他需要上</a:t>
            </a:r>
            <a:r>
              <a:rPr lang="en-US" altLang="zh-CN" sz="1600" dirty="0"/>
              <a:t>1-95</a:t>
            </a:r>
            <a:r>
              <a:rPr lang="zh-CN" altLang="en-US" sz="1600" dirty="0"/>
              <a:t>南州际公路，该公路恰有一个邻近该加油站的人口。他又告诉</a:t>
            </a:r>
            <a:r>
              <a:rPr lang="en-US" altLang="zh-CN" sz="1600" dirty="0"/>
              <a:t>Joe, </a:t>
            </a:r>
            <a:r>
              <a:rPr lang="zh-CN" altLang="en-US" sz="1600" dirty="0"/>
              <a:t>一且到了佛罗里达后应当再问当地人。于是，</a:t>
            </a:r>
            <a:r>
              <a:rPr lang="en-US" altLang="zh-CN" sz="1600" dirty="0"/>
              <a:t>he</a:t>
            </a:r>
            <a:r>
              <a:rPr lang="zh-CN" altLang="en-US" sz="1600" dirty="0"/>
              <a:t>上了</a:t>
            </a:r>
            <a:r>
              <a:rPr lang="en-US" altLang="zh-CN" sz="1600" dirty="0"/>
              <a:t>1-95</a:t>
            </a:r>
            <a:r>
              <a:rPr lang="zh-CN" altLang="en-US" sz="1600" dirty="0"/>
              <a:t>南州际公路，直到达佛罗 里达的</a:t>
            </a:r>
            <a:r>
              <a:rPr lang="en-US" altLang="zh-CN" sz="1600" dirty="0" err="1"/>
              <a:t>Jaorsie</a:t>
            </a:r>
            <a:r>
              <a:rPr lang="en-US" altLang="zh-CN" sz="1600" dirty="0"/>
              <a:t>,</a:t>
            </a:r>
            <a:r>
              <a:rPr lang="zh-CN" altLang="en-US" sz="1600" dirty="0"/>
              <a:t>在那里他向另一个加油站服务员问路。该服务员从地址中抽取了奥兰多市部分，告诉</a:t>
            </a:r>
            <a:r>
              <a:rPr lang="en-US" altLang="zh-CN" sz="1600" dirty="0"/>
              <a:t>Joe</a:t>
            </a:r>
            <a:r>
              <a:rPr lang="zh-CN" altLang="en-US" sz="1600" dirty="0"/>
              <a:t>他应当继续沿</a:t>
            </a:r>
            <a:r>
              <a:rPr lang="en-US" altLang="zh-CN" sz="1600" dirty="0"/>
              <a:t>1-95 </a:t>
            </a:r>
            <a:r>
              <a:rPr lang="zh-CN" altLang="en-US" sz="1600" dirty="0"/>
              <a:t>公路到</a:t>
            </a:r>
            <a:r>
              <a:rPr lang="en-US" altLang="zh-CN" sz="1600" dirty="0"/>
              <a:t>Don</a:t>
            </a:r>
            <a:r>
              <a:rPr lang="zh-CN" altLang="en-US" sz="1600" dirty="0"/>
              <a:t>标难，然后再问其他人。在</a:t>
            </a:r>
            <a:r>
              <a:rPr lang="en-US" altLang="zh-CN" sz="1600" dirty="0" err="1"/>
              <a:t>Doyou</a:t>
            </a:r>
            <a:r>
              <a:rPr lang="zh-CN" altLang="en-US" sz="1600" dirty="0"/>
              <a:t>海滩，另一个加油站服务员也抽取该地址的奥兰多那分，告诉</a:t>
            </a:r>
            <a:r>
              <a:rPr lang="en-US" altLang="zh-CN" sz="1600" dirty="0"/>
              <a:t>.</a:t>
            </a:r>
            <a:r>
              <a:rPr lang="zh-CN" altLang="en-US" sz="1600" dirty="0"/>
              <a:t>应当走</a:t>
            </a:r>
            <a:r>
              <a:rPr lang="en-US" altLang="zh-CN" sz="1600" dirty="0"/>
              <a:t>14</a:t>
            </a:r>
            <a:r>
              <a:rPr lang="zh-CN" altLang="en-US" sz="1600" dirty="0"/>
              <a:t>公路直接前往奥兰多。</a:t>
            </a:r>
            <a:r>
              <a:rPr lang="en-US" altLang="zh-CN" sz="1600" dirty="0"/>
              <a:t>Joe</a:t>
            </a:r>
            <a:r>
              <a:rPr lang="zh-CN" altLang="en-US" sz="1600" dirty="0"/>
              <a:t>走了</a:t>
            </a:r>
            <a:r>
              <a:rPr lang="en-US" altLang="zh-CN" sz="1600" dirty="0"/>
              <a:t>14</a:t>
            </a:r>
            <a:r>
              <a:rPr lang="zh-CN" altLang="en-US" sz="1600" dirty="0"/>
              <a:t>公路，并从奥兰多出口下来告许户限个加油站的服务员期间， 这时该服务员抽取该地址的</a:t>
            </a:r>
            <a:r>
              <a:rPr lang="en-US" altLang="zh-CN" sz="1600" dirty="0" err="1"/>
              <a:t>Laeide</a:t>
            </a:r>
            <a:r>
              <a:rPr lang="en-US" altLang="zh-CN" sz="1600" dirty="0"/>
              <a:t> </a:t>
            </a:r>
            <a:r>
              <a:rPr lang="en-US" altLang="zh-CN" sz="1600" dirty="0" err="1"/>
              <a:t>Dineta</a:t>
            </a:r>
            <a:r>
              <a:rPr lang="zh-CN" altLang="en-US" sz="1600" dirty="0"/>
              <a:t>告诉了</a:t>
            </a:r>
            <a:r>
              <a:rPr lang="en-US" altLang="zh-CN" sz="1600" dirty="0"/>
              <a:t>Joe</a:t>
            </a:r>
            <a:r>
              <a:rPr lang="zh-CN" altLang="en-US" sz="1600" dirty="0"/>
              <a:t>到</a:t>
            </a:r>
            <a:r>
              <a:rPr lang="en-US" altLang="zh-CN" sz="1600" dirty="0" err="1"/>
              <a:t>Lakeide</a:t>
            </a:r>
            <a:r>
              <a:rPr lang="en-US" altLang="zh-CN" sz="1600" dirty="0"/>
              <a:t> Drive </a:t>
            </a:r>
            <a:r>
              <a:rPr lang="zh-CN" altLang="en-US" sz="1600" dirty="0"/>
              <a:t>必须要走的路。且</a:t>
            </a:r>
            <a:r>
              <a:rPr lang="en-US" altLang="zh-CN" sz="1600" dirty="0"/>
              <a:t>Joe</a:t>
            </a:r>
            <a:r>
              <a:rPr lang="zh-CN" altLang="en-US" sz="1600" dirty="0"/>
              <a:t>到达了</a:t>
            </a:r>
            <a:r>
              <a:rPr lang="en-US" altLang="zh-CN" sz="1600" dirty="0" err="1"/>
              <a:t>Lkeide</a:t>
            </a:r>
            <a:r>
              <a:rPr lang="en-US" altLang="zh-CN" sz="1600" dirty="0"/>
              <a:t> Dive,</a:t>
            </a:r>
            <a:r>
              <a:rPr lang="zh-CN" altLang="en-US" sz="1600" dirty="0"/>
              <a:t>他向一个骑自任的为山，和同了</a:t>
            </a:r>
            <a:r>
              <a:rPr lang="en-US" altLang="zh-CN" sz="1600" dirty="0"/>
              <a:t>9</a:t>
            </a:r>
            <a:r>
              <a:rPr lang="zh-CN" altLang="en-US" sz="1600" dirty="0"/>
              <a:t>过日的质的方法。， 这个钱</a:t>
            </a:r>
            <a:r>
              <a:rPr lang="en-US" altLang="zh-CN" sz="1600" dirty="0"/>
              <a:t>F</a:t>
            </a:r>
            <a:r>
              <a:rPr lang="zh-CN" altLang="en-US" sz="1600" dirty="0"/>
              <a:t>执款广该地址的</a:t>
            </a:r>
            <a:r>
              <a:rPr lang="en-US" altLang="zh-CN" sz="1600" dirty="0"/>
              <a:t>5</a:t>
            </a:r>
            <a:r>
              <a:rPr lang="zh-CN" altLang="en-US" sz="1600" dirty="0"/>
              <a:t>特部分，开布不中国屋的方向。</a:t>
            </a:r>
            <a:r>
              <a:rPr lang="en-US" altLang="zh-CN" sz="1600" dirty="0"/>
              <a:t>Joe</a:t>
            </a:r>
            <a:r>
              <a:rPr lang="zh-CN" altLang="en-US" sz="1600" dirty="0"/>
              <a:t>最后到达了最终目的地。在上述类比中，那些加油站服务员和骑车的孩子可类比为路由器。</a:t>
            </a:r>
          </a:p>
        </p:txBody>
      </p:sp>
    </p:spTree>
    <p:extLst>
      <p:ext uri="{BB962C8B-B14F-4D97-AF65-F5344CB8AC3E}">
        <p14:creationId xmlns:p14="http://schemas.microsoft.com/office/powerpoint/2010/main" val="767347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2A33B73-0943-4E05-BDEE-401F50CCD1A2}"/>
              </a:ext>
            </a:extLst>
          </p:cNvPr>
          <p:cNvSpPr txBox="1"/>
          <p:nvPr/>
        </p:nvSpPr>
        <p:spPr>
          <a:xfrm>
            <a:off x="794327" y="628073"/>
            <a:ext cx="10317018" cy="707886"/>
          </a:xfrm>
          <a:prstGeom prst="rect">
            <a:avLst/>
          </a:prstGeom>
          <a:noFill/>
        </p:spPr>
        <p:txBody>
          <a:bodyPr wrap="square" rtlCol="0">
            <a:spAutoFit/>
          </a:bodyPr>
          <a:lstStyle/>
          <a:p>
            <a:pPr algn="ctr"/>
            <a:r>
              <a:rPr lang="zh-CN" altLang="en-US" sz="4000" dirty="0"/>
              <a:t>电路交换</a:t>
            </a:r>
            <a:endParaRPr lang="zh-CN" altLang="en-US" sz="4000" b="1" dirty="0"/>
          </a:p>
        </p:txBody>
      </p:sp>
      <p:sp>
        <p:nvSpPr>
          <p:cNvPr id="3" name="文本框 2">
            <a:extLst>
              <a:ext uri="{FF2B5EF4-FFF2-40B4-BE49-F238E27FC236}">
                <a16:creationId xmlns:a16="http://schemas.microsoft.com/office/drawing/2014/main" id="{5D3464EA-1F4F-4BC7-8270-18433904C8A2}"/>
              </a:ext>
            </a:extLst>
          </p:cNvPr>
          <p:cNvSpPr txBox="1"/>
          <p:nvPr/>
        </p:nvSpPr>
        <p:spPr>
          <a:xfrm>
            <a:off x="1320799" y="1468581"/>
            <a:ext cx="8100291" cy="369332"/>
          </a:xfrm>
          <a:prstGeom prst="rect">
            <a:avLst/>
          </a:prstGeom>
          <a:noFill/>
        </p:spPr>
        <p:txBody>
          <a:bodyPr wrap="square" rtlCol="0">
            <a:spAutoFit/>
          </a:bodyPr>
          <a:lstStyle/>
          <a:p>
            <a:r>
              <a:rPr lang="zh-CN" altLang="en-US" dirty="0"/>
              <a:t>通过网络链路和交换机移动数据有两种基本方法：</a:t>
            </a:r>
            <a:r>
              <a:rPr lang="zh-CN" altLang="en-US" b="1" dirty="0"/>
              <a:t>电路交换</a:t>
            </a:r>
            <a:r>
              <a:rPr lang="zh-CN" altLang="en-US" dirty="0"/>
              <a:t>，</a:t>
            </a:r>
            <a:r>
              <a:rPr lang="zh-CN" altLang="en-US" b="1" dirty="0"/>
              <a:t>分组交换。</a:t>
            </a:r>
            <a:endParaRPr lang="zh-CN" altLang="en-US" dirty="0"/>
          </a:p>
        </p:txBody>
      </p:sp>
      <p:sp>
        <p:nvSpPr>
          <p:cNvPr id="5" name="文本框 4">
            <a:extLst>
              <a:ext uri="{FF2B5EF4-FFF2-40B4-BE49-F238E27FC236}">
                <a16:creationId xmlns:a16="http://schemas.microsoft.com/office/drawing/2014/main" id="{A1380CB2-6D75-47EC-80EF-AECC33B4B33E}"/>
              </a:ext>
            </a:extLst>
          </p:cNvPr>
          <p:cNvSpPr txBox="1"/>
          <p:nvPr/>
        </p:nvSpPr>
        <p:spPr>
          <a:xfrm>
            <a:off x="1320799" y="2030404"/>
            <a:ext cx="9975273" cy="646331"/>
          </a:xfrm>
          <a:prstGeom prst="rect">
            <a:avLst/>
          </a:prstGeom>
          <a:noFill/>
        </p:spPr>
        <p:txBody>
          <a:bodyPr wrap="square" rtlCol="0">
            <a:spAutoFit/>
          </a:bodyPr>
          <a:lstStyle/>
          <a:p>
            <a:r>
              <a:rPr lang="zh-CN" altLang="en-US" dirty="0"/>
              <a:t>在电路交换网络中，在端系统间通信会话期间，预留了端系统间沿路径通信所需要的资源</a:t>
            </a:r>
            <a:r>
              <a:rPr lang="en-US" altLang="zh-CN" dirty="0"/>
              <a:t>(</a:t>
            </a:r>
            <a:r>
              <a:rPr lang="zh-CN" altLang="en-US" dirty="0"/>
              <a:t>缓存、链路传输速率</a:t>
            </a:r>
            <a:r>
              <a:rPr lang="en-US" altLang="zh-CN" dirty="0"/>
              <a:t>)</a:t>
            </a:r>
            <a:r>
              <a:rPr lang="zh-CN" altLang="en-US" dirty="0"/>
              <a:t>。</a:t>
            </a:r>
          </a:p>
        </p:txBody>
      </p:sp>
      <p:sp>
        <p:nvSpPr>
          <p:cNvPr id="6" name="文本框 5">
            <a:extLst>
              <a:ext uri="{FF2B5EF4-FFF2-40B4-BE49-F238E27FC236}">
                <a16:creationId xmlns:a16="http://schemas.microsoft.com/office/drawing/2014/main" id="{9163013F-5D03-4545-B4A9-B85C2EF61C0A}"/>
              </a:ext>
            </a:extLst>
          </p:cNvPr>
          <p:cNvSpPr txBox="1"/>
          <p:nvPr/>
        </p:nvSpPr>
        <p:spPr>
          <a:xfrm>
            <a:off x="1320799" y="3017237"/>
            <a:ext cx="10049165" cy="707886"/>
          </a:xfrm>
          <a:prstGeom prst="rect">
            <a:avLst/>
          </a:prstGeom>
          <a:noFill/>
        </p:spPr>
        <p:txBody>
          <a:bodyPr wrap="square" rtlCol="0">
            <a:spAutoFit/>
          </a:bodyPr>
          <a:lstStyle/>
          <a:p>
            <a:r>
              <a:rPr lang="zh-CN" altLang="en-US" sz="2000" b="1" dirty="0"/>
              <a:t>频分复用</a:t>
            </a:r>
            <a:r>
              <a:rPr lang="en-US" altLang="zh-CN" sz="2000" b="1" dirty="0"/>
              <a:t>(FDM)</a:t>
            </a:r>
            <a:r>
              <a:rPr lang="zh-CN" altLang="en-US" sz="2000" b="1" dirty="0"/>
              <a:t>：</a:t>
            </a:r>
            <a:r>
              <a:rPr lang="zh-CN" altLang="en-US" sz="2000" dirty="0"/>
              <a:t>对于</a:t>
            </a:r>
            <a:r>
              <a:rPr lang="en-US" altLang="zh-CN" sz="2000" dirty="0"/>
              <a:t>FDM</a:t>
            </a:r>
            <a:r>
              <a:rPr lang="zh-CN" altLang="en-US" sz="2000" dirty="0"/>
              <a:t>链路的频谱有跨越链路创建的所有链接共享，在连接中链路为每条连接专用一个频谱。</a:t>
            </a:r>
            <a:endParaRPr lang="zh-CN" altLang="en-US" sz="2000" b="1" dirty="0"/>
          </a:p>
        </p:txBody>
      </p:sp>
      <p:sp>
        <p:nvSpPr>
          <p:cNvPr id="7" name="文本框 6">
            <a:extLst>
              <a:ext uri="{FF2B5EF4-FFF2-40B4-BE49-F238E27FC236}">
                <a16:creationId xmlns:a16="http://schemas.microsoft.com/office/drawing/2014/main" id="{BC080FA7-282B-4259-BD4D-0C70AE2CF9A1}"/>
              </a:ext>
            </a:extLst>
          </p:cNvPr>
          <p:cNvSpPr txBox="1"/>
          <p:nvPr/>
        </p:nvSpPr>
        <p:spPr>
          <a:xfrm>
            <a:off x="1260762" y="3977589"/>
            <a:ext cx="10169237" cy="1323439"/>
          </a:xfrm>
          <a:prstGeom prst="rect">
            <a:avLst/>
          </a:prstGeom>
          <a:noFill/>
        </p:spPr>
        <p:txBody>
          <a:bodyPr wrap="square" rtlCol="0">
            <a:spAutoFit/>
          </a:bodyPr>
          <a:lstStyle/>
          <a:p>
            <a:r>
              <a:rPr lang="zh-CN" altLang="en-US" sz="2000" b="1" dirty="0"/>
              <a:t>时分复用</a:t>
            </a:r>
            <a:r>
              <a:rPr lang="en-US" altLang="zh-CN" sz="2000" b="1" dirty="0"/>
              <a:t>(TDM)</a:t>
            </a:r>
            <a:r>
              <a:rPr lang="zh-CN" altLang="en-US" sz="2000" b="1" dirty="0"/>
              <a:t>：</a:t>
            </a:r>
            <a:r>
              <a:rPr lang="zh-CN" altLang="en-US" sz="2000" dirty="0"/>
              <a:t>时间被划分为固定时期的帧，并且每个帧又被划分为固定数量的时隙，当网络跨越一条链路创建一条连接时，网络在每个帧中为该连接指定一个时隙，这些时隙专门由该连接单独使用，一个时隙</a:t>
            </a:r>
            <a:r>
              <a:rPr lang="en-US" altLang="zh-CN" sz="2000" dirty="0"/>
              <a:t>(</a:t>
            </a:r>
            <a:r>
              <a:rPr lang="zh-CN" altLang="en-US" sz="2000" dirty="0"/>
              <a:t>在每个帧内</a:t>
            </a:r>
            <a:r>
              <a:rPr lang="en-US" altLang="zh-CN" sz="2000" dirty="0"/>
              <a:t>)</a:t>
            </a:r>
            <a:r>
              <a:rPr lang="zh-CN" altLang="en-US" sz="2000" dirty="0"/>
              <a:t>可用于传输该连接的数据。</a:t>
            </a:r>
            <a:endParaRPr lang="en-US" altLang="zh-CN" sz="2000" dirty="0"/>
          </a:p>
          <a:p>
            <a:r>
              <a:rPr lang="zh-CN" altLang="en-US" sz="2000" b="1" dirty="0"/>
              <a:t>静默期：</a:t>
            </a:r>
            <a:r>
              <a:rPr lang="zh-CN" altLang="en-US" sz="2000" dirty="0"/>
              <a:t>预留路径空闲的时候</a:t>
            </a:r>
          </a:p>
        </p:txBody>
      </p:sp>
      <p:sp>
        <p:nvSpPr>
          <p:cNvPr id="8" name="文本框 7">
            <a:extLst>
              <a:ext uri="{FF2B5EF4-FFF2-40B4-BE49-F238E27FC236}">
                <a16:creationId xmlns:a16="http://schemas.microsoft.com/office/drawing/2014/main" id="{35B15023-A544-40EE-8D99-2AA58B796DE3}"/>
              </a:ext>
            </a:extLst>
          </p:cNvPr>
          <p:cNvSpPr txBox="1"/>
          <p:nvPr/>
        </p:nvSpPr>
        <p:spPr>
          <a:xfrm>
            <a:off x="5370944" y="5997421"/>
            <a:ext cx="6345382" cy="369332"/>
          </a:xfrm>
          <a:prstGeom prst="rect">
            <a:avLst/>
          </a:prstGeom>
          <a:noFill/>
        </p:spPr>
        <p:txBody>
          <a:bodyPr wrap="square" rtlCol="0">
            <a:spAutoFit/>
          </a:bodyPr>
          <a:lstStyle/>
          <a:p>
            <a:r>
              <a:rPr lang="zh-CN" altLang="en-US" dirty="0"/>
              <a:t>分组交换与电路交换的对比见网络或者数</a:t>
            </a:r>
            <a:r>
              <a:rPr lang="en-US" altLang="zh-CN" dirty="0"/>
              <a:t>P21</a:t>
            </a:r>
            <a:r>
              <a:rPr lang="zh-CN" altLang="en-US" dirty="0"/>
              <a:t>。</a:t>
            </a:r>
          </a:p>
        </p:txBody>
      </p:sp>
    </p:spTree>
    <p:extLst>
      <p:ext uri="{BB962C8B-B14F-4D97-AF65-F5344CB8AC3E}">
        <p14:creationId xmlns:p14="http://schemas.microsoft.com/office/powerpoint/2010/main" val="288143014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718</TotalTime>
  <Words>1485</Words>
  <Application>Microsoft Office PowerPoint</Application>
  <PresentationFormat>宽屏</PresentationFormat>
  <Paragraphs>59</Paragraphs>
  <Slides>9</Slides>
  <Notes>4</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9</vt:i4>
      </vt:variant>
    </vt:vector>
  </HeadingPairs>
  <TitlesOfParts>
    <vt:vector size="13" baseType="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宋</dc:creator>
  <cp:lastModifiedBy>宋</cp:lastModifiedBy>
  <cp:revision>23</cp:revision>
  <dcterms:created xsi:type="dcterms:W3CDTF">2021-02-19T02:08:25Z</dcterms:created>
  <dcterms:modified xsi:type="dcterms:W3CDTF">2021-02-19T14:06:46Z</dcterms:modified>
</cp:coreProperties>
</file>