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60" autoAdjust="0"/>
  </p:normalViewPr>
  <p:slideViewPr>
    <p:cSldViewPr snapToGrid="0">
      <p:cViewPr varScale="1">
        <p:scale>
          <a:sx n="83" d="100"/>
          <a:sy n="83" d="100"/>
        </p:scale>
        <p:origin x="658" y="6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6" d="100"/>
          <a:sy n="66" d="100"/>
        </p:scale>
        <p:origin x="3134"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B67A18-87EE-4A95-914E-E3BB7ECA6B3F}" type="datetimeFigureOut">
              <a:rPr lang="zh-CN" altLang="en-US" smtClean="0"/>
              <a:t>2021/2/27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5E20B3-D01A-4246-A842-912BF7BD7D8E}" type="slidenum">
              <a:rPr lang="zh-CN" altLang="en-US" smtClean="0"/>
              <a:t>‹#›</a:t>
            </a:fld>
            <a:endParaRPr lang="zh-CN" altLang="en-US"/>
          </a:p>
        </p:txBody>
      </p:sp>
    </p:spTree>
    <p:extLst>
      <p:ext uri="{BB962C8B-B14F-4D97-AF65-F5344CB8AC3E}">
        <p14:creationId xmlns:p14="http://schemas.microsoft.com/office/powerpoint/2010/main" val="3963243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1</a:t>
            </a:fld>
            <a:endParaRPr lang="zh-CN" altLang="en-US"/>
          </a:p>
        </p:txBody>
      </p:sp>
    </p:spTree>
    <p:extLst>
      <p:ext uri="{BB962C8B-B14F-4D97-AF65-F5344CB8AC3E}">
        <p14:creationId xmlns:p14="http://schemas.microsoft.com/office/powerpoint/2010/main" val="32535723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2</a:t>
            </a:fld>
            <a:endParaRPr lang="zh-CN" altLang="en-US"/>
          </a:p>
        </p:txBody>
      </p:sp>
    </p:spTree>
    <p:extLst>
      <p:ext uri="{BB962C8B-B14F-4D97-AF65-F5344CB8AC3E}">
        <p14:creationId xmlns:p14="http://schemas.microsoft.com/office/powerpoint/2010/main" val="20143764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4</a:t>
            </a:fld>
            <a:endParaRPr lang="zh-CN" altLang="en-US"/>
          </a:p>
        </p:txBody>
      </p:sp>
    </p:spTree>
    <p:extLst>
      <p:ext uri="{BB962C8B-B14F-4D97-AF65-F5344CB8AC3E}">
        <p14:creationId xmlns:p14="http://schemas.microsoft.com/office/powerpoint/2010/main" val="9815398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6</a:t>
            </a:fld>
            <a:endParaRPr lang="zh-CN" altLang="en-US"/>
          </a:p>
        </p:txBody>
      </p:sp>
    </p:spTree>
    <p:extLst>
      <p:ext uri="{BB962C8B-B14F-4D97-AF65-F5344CB8AC3E}">
        <p14:creationId xmlns:p14="http://schemas.microsoft.com/office/powerpoint/2010/main" val="7341894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83F221-4233-4DC2-A4A0-C848DD55B9E2}"/>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0DA871D-186C-44E6-8992-4BCBA85281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9CDFB36C-5BE0-4B38-A1D8-B915D75CD66E}"/>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5" name="页脚占位符 4">
            <a:extLst>
              <a:ext uri="{FF2B5EF4-FFF2-40B4-BE49-F238E27FC236}">
                <a16:creationId xmlns:a16="http://schemas.microsoft.com/office/drawing/2014/main" id="{8930C3FC-9E5B-47F0-9A9C-E31BC2DDAB8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059EA72-C5FF-49D2-A536-B59DFD44776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5580919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1EA2507-42EC-4445-A198-929A08CB722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1BB939A-9E4C-4BBE-97AF-D404B59CA4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A7C6CEFD-E876-440F-9080-D199D793A834}"/>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5" name="页脚占位符 4">
            <a:extLst>
              <a:ext uri="{FF2B5EF4-FFF2-40B4-BE49-F238E27FC236}">
                <a16:creationId xmlns:a16="http://schemas.microsoft.com/office/drawing/2014/main" id="{5F346703-C53B-4EA6-98E8-5C0D0D9B460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A7D042B-EF2D-4762-B8CC-1400256C7C46}"/>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4044705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50B51D-DE2E-4C17-AA80-8C6757342058}"/>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6727A0-2081-4626-91F0-EF5DA36703D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E0C37856-6997-4C67-A2E4-A510E7B9A0A1}"/>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5" name="页脚占位符 4">
            <a:extLst>
              <a:ext uri="{FF2B5EF4-FFF2-40B4-BE49-F238E27FC236}">
                <a16:creationId xmlns:a16="http://schemas.microsoft.com/office/drawing/2014/main" id="{275C002A-FE30-4219-855E-D3522E0F9A6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2ABA80E-5A6E-4848-A37E-10CB75AEAB7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8663638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736F0A-D513-4DE9-B70C-E64196346EAE}"/>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AFEF133-1717-44AA-8CE8-65EEAD15BE77}"/>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FCC469AA-356F-4A9F-B9DF-B565536D4A7F}"/>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5B45C1B9-1A46-4F8B-8FF8-11EECEFD2A64}"/>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6" name="页脚占位符 5">
            <a:extLst>
              <a:ext uri="{FF2B5EF4-FFF2-40B4-BE49-F238E27FC236}">
                <a16:creationId xmlns:a16="http://schemas.microsoft.com/office/drawing/2014/main" id="{CF9EC0E0-9FAC-4107-BE65-1DAE468F834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CA39878-1676-42E4-AFA1-A86154BF37C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927124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EEE886-95F5-4F2D-AD7C-7FA02F8EBFD5}"/>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41F51CD3-248E-462C-9A65-5296F0C5D9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F5971B06-C18B-4150-A28C-FE4112076A1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9F8D8A8F-1C12-4B6D-8C5E-B199929FAB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981CCAF9-7B47-4631-B92C-9FA9CFE4D635}"/>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5A1EDCC0-A9B4-43D7-BD51-D3E53F75706E}"/>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8" name="页脚占位符 7">
            <a:extLst>
              <a:ext uri="{FF2B5EF4-FFF2-40B4-BE49-F238E27FC236}">
                <a16:creationId xmlns:a16="http://schemas.microsoft.com/office/drawing/2014/main" id="{FA99AEE5-D5EA-4D69-A287-C9C691C5AB4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98BD69FB-B6A7-4195-8B18-DB5C7B56A82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5818075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7FBF2E4-4F7B-4954-B89A-98EEDC9866BB}"/>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13E78679-44DB-4FA8-B017-D64638949C73}"/>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4" name="页脚占位符 3">
            <a:extLst>
              <a:ext uri="{FF2B5EF4-FFF2-40B4-BE49-F238E27FC236}">
                <a16:creationId xmlns:a16="http://schemas.microsoft.com/office/drawing/2014/main" id="{CC1748A1-5CAE-4EDA-B142-D922C3BBB751}"/>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0D9B28FA-A0BE-41C5-8565-8A02054E8F5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2134163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705CE52C-5F2D-4736-BF1F-2D2B712097CF}"/>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3" name="页脚占位符 2">
            <a:extLst>
              <a:ext uri="{FF2B5EF4-FFF2-40B4-BE49-F238E27FC236}">
                <a16:creationId xmlns:a16="http://schemas.microsoft.com/office/drawing/2014/main" id="{79193B1B-A87C-49E2-A401-51592603AA3E}"/>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16AE4D3-AA6B-415D-816B-4D2E49A74A6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404378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C7E78D-4522-4CDF-A0F1-EA4B60D4197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048B0B1A-13A7-4DCE-B8CD-999F50AE5B8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12416C33-AB40-4E7A-BFF1-DC344F3716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0367A7A-4DC4-4B8D-8551-99E06F553E94}"/>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6" name="页脚占位符 5">
            <a:extLst>
              <a:ext uri="{FF2B5EF4-FFF2-40B4-BE49-F238E27FC236}">
                <a16:creationId xmlns:a16="http://schemas.microsoft.com/office/drawing/2014/main" id="{102AC12F-7608-4D9E-90C5-D289494B529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3E8846C-F129-418E-9BD4-5F8DB280C37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7658697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D3E708-92B6-4CED-994C-B593078CBFAB}"/>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09371738-FEB1-45BC-9AC9-571C20D3C1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D925B32B-144B-4685-BF05-A78BD1F048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8C0B871F-2E5E-494A-9733-FA6D4440BB0C}"/>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6" name="页脚占位符 5">
            <a:extLst>
              <a:ext uri="{FF2B5EF4-FFF2-40B4-BE49-F238E27FC236}">
                <a16:creationId xmlns:a16="http://schemas.microsoft.com/office/drawing/2014/main" id="{04F4C32B-D25E-4B1A-A78B-C29E751E5C3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19D5EA7-24F9-413E-9B3F-48CBC2F14148}"/>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000141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FCE977-68CA-45A0-82A0-A07BF38DF21C}"/>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504AAE72-A7AD-4279-BA29-2B5705378427}"/>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60F9FCC-EDFE-43E8-8D80-25710A7FA572}"/>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5" name="页脚占位符 4">
            <a:extLst>
              <a:ext uri="{FF2B5EF4-FFF2-40B4-BE49-F238E27FC236}">
                <a16:creationId xmlns:a16="http://schemas.microsoft.com/office/drawing/2014/main" id="{B4D81D3D-B7B3-4D56-BCA9-F989F928AA0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B7E2B12-CDCC-4248-900B-3D075FC7B270}"/>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2713968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99752AE6-30FD-4633-A48A-34ACC83814B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40CC4134-66D7-4B35-B3B3-75AFBA725096}"/>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4B7A601-A892-476E-AB5D-1FE65B12602E}"/>
              </a:ext>
            </a:extLst>
          </p:cNvPr>
          <p:cNvSpPr>
            <a:spLocks noGrp="1"/>
          </p:cNvSpPr>
          <p:nvPr>
            <p:ph type="dt" sz="half" idx="10"/>
          </p:nvPr>
        </p:nvSpPr>
        <p:spPr/>
        <p:txBody>
          <a:bodyPr/>
          <a:lstStyle/>
          <a:p>
            <a:fld id="{1355D31F-6343-45BE-BF09-235967A8B230}" type="datetimeFigureOut">
              <a:rPr lang="zh-CN" altLang="en-US" smtClean="0"/>
              <a:t>2021/2/27</a:t>
            </a:fld>
            <a:endParaRPr lang="zh-CN" altLang="en-US"/>
          </a:p>
        </p:txBody>
      </p:sp>
      <p:sp>
        <p:nvSpPr>
          <p:cNvPr id="5" name="页脚占位符 4">
            <a:extLst>
              <a:ext uri="{FF2B5EF4-FFF2-40B4-BE49-F238E27FC236}">
                <a16:creationId xmlns:a16="http://schemas.microsoft.com/office/drawing/2014/main" id="{06FF7152-91F4-420A-A083-E28E5DA4530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3744970-3FC9-4582-AB10-4DE8BA7BA16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400889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16C1363B-DBFE-44DB-8681-B996E346B19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A0EFF8D-7A91-4E2E-A889-03B2170641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FACAC31-42EA-4A11-AEE7-27B3A4EDB9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55D31F-6343-45BE-BF09-235967A8B230}" type="datetimeFigureOut">
              <a:rPr lang="zh-CN" altLang="en-US" smtClean="0"/>
              <a:t>2021/2/27</a:t>
            </a:fld>
            <a:endParaRPr lang="zh-CN" altLang="en-US"/>
          </a:p>
        </p:txBody>
      </p:sp>
      <p:sp>
        <p:nvSpPr>
          <p:cNvPr id="5" name="页脚占位符 4">
            <a:extLst>
              <a:ext uri="{FF2B5EF4-FFF2-40B4-BE49-F238E27FC236}">
                <a16:creationId xmlns:a16="http://schemas.microsoft.com/office/drawing/2014/main" id="{BED5CC07-4CC4-4A5D-86B8-3F27E87EFAF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4CAA8300-8116-4738-AC9C-E0A389C50D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1299371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311A9288-F857-4329-802E-799C0C0EF7EB}"/>
              </a:ext>
            </a:extLst>
          </p:cNvPr>
          <p:cNvSpPr txBox="1"/>
          <p:nvPr/>
        </p:nvSpPr>
        <p:spPr>
          <a:xfrm>
            <a:off x="1108363" y="415637"/>
            <a:ext cx="9753600" cy="923330"/>
          </a:xfrm>
          <a:prstGeom prst="rect">
            <a:avLst/>
          </a:prstGeom>
          <a:noFill/>
        </p:spPr>
        <p:txBody>
          <a:bodyPr wrap="square" rtlCol="0">
            <a:spAutoFit/>
          </a:bodyPr>
          <a:lstStyle/>
          <a:p>
            <a:pPr algn="ctr"/>
            <a:r>
              <a:rPr lang="en-US" altLang="zh-CN" sz="5400" dirty="0"/>
              <a:t> </a:t>
            </a:r>
            <a:r>
              <a:rPr lang="zh-CN" altLang="en-US" sz="5400" dirty="0"/>
              <a:t>一、</a:t>
            </a:r>
            <a:r>
              <a:rPr lang="zh-CN" altLang="en-US" sz="5400" b="1" dirty="0"/>
              <a:t>什么是因特网</a:t>
            </a:r>
            <a:r>
              <a:rPr lang="zh-CN" altLang="en-US" sz="1600" dirty="0"/>
              <a:t>因特网是最大的互联网</a:t>
            </a:r>
            <a:endParaRPr lang="zh-CN" altLang="en-US" sz="5400" dirty="0"/>
          </a:p>
        </p:txBody>
      </p:sp>
      <p:sp>
        <p:nvSpPr>
          <p:cNvPr id="5" name="文本框 4">
            <a:extLst>
              <a:ext uri="{FF2B5EF4-FFF2-40B4-BE49-F238E27FC236}">
                <a16:creationId xmlns:a16="http://schemas.microsoft.com/office/drawing/2014/main" id="{2497C2FA-98B1-4816-ABE0-C7A330AB9BE0}"/>
              </a:ext>
            </a:extLst>
          </p:cNvPr>
          <p:cNvSpPr txBox="1"/>
          <p:nvPr/>
        </p:nvSpPr>
        <p:spPr>
          <a:xfrm>
            <a:off x="1191491" y="1902692"/>
            <a:ext cx="9975273" cy="738664"/>
          </a:xfrm>
          <a:prstGeom prst="rect">
            <a:avLst/>
          </a:prstGeom>
          <a:noFill/>
        </p:spPr>
        <p:txBody>
          <a:bodyPr wrap="square" rtlCol="0">
            <a:spAutoFit/>
          </a:bodyPr>
          <a:lstStyle/>
          <a:p>
            <a:r>
              <a:rPr lang="zh-CN" altLang="en-US" sz="2400" dirty="0"/>
              <a:t>因特网：</a:t>
            </a:r>
            <a:r>
              <a:rPr lang="en-US" altLang="zh-CN" dirty="0"/>
              <a:t>1</a:t>
            </a:r>
            <a:r>
              <a:rPr lang="zh-CN" altLang="en-US" dirty="0"/>
              <a:t>、一个把各个网络连接起来的网络，由许多计算机和电缆组成。</a:t>
            </a:r>
            <a:endParaRPr lang="en-US" altLang="zh-CN" dirty="0"/>
          </a:p>
          <a:p>
            <a:r>
              <a:rPr lang="en-US" altLang="zh-CN" dirty="0"/>
              <a:t>                    2</a:t>
            </a:r>
            <a:r>
              <a:rPr lang="zh-CN" altLang="en-US" dirty="0"/>
              <a:t>、因特网描述为应用程序的平台</a:t>
            </a:r>
          </a:p>
        </p:txBody>
      </p:sp>
      <p:sp>
        <p:nvSpPr>
          <p:cNvPr id="7" name="文本框 6">
            <a:extLst>
              <a:ext uri="{FF2B5EF4-FFF2-40B4-BE49-F238E27FC236}">
                <a16:creationId xmlns:a16="http://schemas.microsoft.com/office/drawing/2014/main" id="{38173BCD-0657-4F2A-801B-6B7DB73238C5}"/>
              </a:ext>
            </a:extLst>
          </p:cNvPr>
          <p:cNvSpPr txBox="1"/>
          <p:nvPr/>
        </p:nvSpPr>
        <p:spPr>
          <a:xfrm>
            <a:off x="1191491" y="3205081"/>
            <a:ext cx="8174182" cy="461665"/>
          </a:xfrm>
          <a:prstGeom prst="rect">
            <a:avLst/>
          </a:prstGeom>
          <a:noFill/>
        </p:spPr>
        <p:txBody>
          <a:bodyPr wrap="square" rtlCol="0">
            <a:spAutoFit/>
          </a:bodyPr>
          <a:lstStyle/>
          <a:p>
            <a:r>
              <a:rPr lang="zh-CN" altLang="en-US" sz="2400" dirty="0"/>
              <a:t>万维网：</a:t>
            </a:r>
            <a:r>
              <a:rPr lang="zh-CN" altLang="en-US" dirty="0"/>
              <a:t>一个许多相互连接的超文本组成，通过互联网访问。</a:t>
            </a:r>
            <a:endParaRPr lang="zh-CN" altLang="en-US" sz="2400" dirty="0"/>
          </a:p>
        </p:txBody>
      </p:sp>
      <p:sp>
        <p:nvSpPr>
          <p:cNvPr id="9" name="文本框 8">
            <a:extLst>
              <a:ext uri="{FF2B5EF4-FFF2-40B4-BE49-F238E27FC236}">
                <a16:creationId xmlns:a16="http://schemas.microsoft.com/office/drawing/2014/main" id="{73608D26-A37E-48E6-81D3-DA3440D0486A}"/>
              </a:ext>
            </a:extLst>
          </p:cNvPr>
          <p:cNvSpPr txBox="1"/>
          <p:nvPr/>
        </p:nvSpPr>
        <p:spPr>
          <a:xfrm>
            <a:off x="1191491" y="4230471"/>
            <a:ext cx="7333673" cy="461665"/>
          </a:xfrm>
          <a:prstGeom prst="rect">
            <a:avLst/>
          </a:prstGeom>
          <a:noFill/>
        </p:spPr>
        <p:txBody>
          <a:bodyPr wrap="square" rtlCol="0">
            <a:spAutoFit/>
          </a:bodyPr>
          <a:lstStyle/>
          <a:p>
            <a:r>
              <a:rPr lang="zh-CN" altLang="en-US" sz="2400" dirty="0"/>
              <a:t>具体构成：</a:t>
            </a:r>
            <a:r>
              <a:rPr lang="zh-CN" altLang="en-US" dirty="0"/>
              <a:t>世界范围的计算机网络。（主机或端系统）</a:t>
            </a:r>
            <a:endParaRPr lang="zh-CN" altLang="en-US" sz="2400" dirty="0"/>
          </a:p>
        </p:txBody>
      </p:sp>
      <p:sp>
        <p:nvSpPr>
          <p:cNvPr id="10" name="文本框 9">
            <a:extLst>
              <a:ext uri="{FF2B5EF4-FFF2-40B4-BE49-F238E27FC236}">
                <a16:creationId xmlns:a16="http://schemas.microsoft.com/office/drawing/2014/main" id="{92BA28CF-9FD6-4CE8-B03C-9B66D31987AF}"/>
              </a:ext>
            </a:extLst>
          </p:cNvPr>
          <p:cNvSpPr txBox="1"/>
          <p:nvPr/>
        </p:nvSpPr>
        <p:spPr>
          <a:xfrm>
            <a:off x="1274618" y="5273964"/>
            <a:ext cx="9023927" cy="461665"/>
          </a:xfrm>
          <a:prstGeom prst="rect">
            <a:avLst/>
          </a:prstGeom>
          <a:noFill/>
        </p:spPr>
        <p:txBody>
          <a:bodyPr wrap="square" rtlCol="0">
            <a:spAutoFit/>
          </a:bodyPr>
          <a:lstStyle/>
          <a:p>
            <a:r>
              <a:rPr lang="zh-CN" altLang="en-US" sz="2400" b="1" dirty="0"/>
              <a:t>端系统</a:t>
            </a:r>
            <a:r>
              <a:rPr lang="zh-CN" altLang="en-US" sz="2400" dirty="0"/>
              <a:t>通过</a:t>
            </a:r>
            <a:r>
              <a:rPr lang="zh-CN" altLang="en-US" sz="2400" b="1" dirty="0"/>
              <a:t>通信链路</a:t>
            </a:r>
            <a:r>
              <a:rPr lang="zh-CN" altLang="en-US" sz="2400" dirty="0"/>
              <a:t>和</a:t>
            </a:r>
            <a:r>
              <a:rPr lang="zh-CN" altLang="en-US" sz="2400" b="1" dirty="0"/>
              <a:t>分组交换机</a:t>
            </a:r>
            <a:r>
              <a:rPr lang="zh-CN" altLang="en-US" sz="2400" dirty="0"/>
              <a:t>连接在一起</a:t>
            </a:r>
          </a:p>
        </p:txBody>
      </p:sp>
    </p:spTree>
    <p:extLst>
      <p:ext uri="{BB962C8B-B14F-4D97-AF65-F5344CB8AC3E}">
        <p14:creationId xmlns:p14="http://schemas.microsoft.com/office/powerpoint/2010/main" val="2291797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01646473-10CD-45DF-8856-DFAF89D55066}"/>
              </a:ext>
            </a:extLst>
          </p:cNvPr>
          <p:cNvSpPr txBox="1"/>
          <p:nvPr/>
        </p:nvSpPr>
        <p:spPr>
          <a:xfrm>
            <a:off x="1440873" y="628072"/>
            <a:ext cx="9374909" cy="461665"/>
          </a:xfrm>
          <a:prstGeom prst="rect">
            <a:avLst/>
          </a:prstGeom>
          <a:noFill/>
        </p:spPr>
        <p:txBody>
          <a:bodyPr wrap="square" rtlCol="0">
            <a:spAutoFit/>
          </a:bodyPr>
          <a:lstStyle/>
          <a:p>
            <a:r>
              <a:rPr lang="zh-CN" altLang="en-US" sz="2400" dirty="0"/>
              <a:t>通信链路</a:t>
            </a:r>
            <a:r>
              <a:rPr lang="zh-CN" altLang="en-US" sz="2400" dirty="0">
                <a:sym typeface="Wingdings" panose="05000000000000000000" pitchFamily="2" charset="2"/>
              </a:rPr>
              <a:t>（物理媒介）：</a:t>
            </a:r>
            <a:r>
              <a:rPr lang="zh-CN" altLang="en-US" dirty="0">
                <a:sym typeface="Wingdings" panose="05000000000000000000" pitchFamily="2" charset="2"/>
              </a:rPr>
              <a:t>同轴电缆，铜线，光纤，无线电频谱</a:t>
            </a:r>
            <a:r>
              <a:rPr lang="en-US" altLang="zh-CN" dirty="0">
                <a:sym typeface="Wingdings" panose="05000000000000000000" pitchFamily="2" charset="2"/>
              </a:rPr>
              <a:t>……</a:t>
            </a:r>
            <a:endParaRPr lang="zh-CN" altLang="en-US" sz="2400" dirty="0"/>
          </a:p>
        </p:txBody>
      </p:sp>
      <p:sp>
        <p:nvSpPr>
          <p:cNvPr id="5" name="文本框 4">
            <a:extLst>
              <a:ext uri="{FF2B5EF4-FFF2-40B4-BE49-F238E27FC236}">
                <a16:creationId xmlns:a16="http://schemas.microsoft.com/office/drawing/2014/main" id="{6074E460-2772-4FC4-AB1B-36B3D27002FF}"/>
              </a:ext>
            </a:extLst>
          </p:cNvPr>
          <p:cNvSpPr txBox="1"/>
          <p:nvPr/>
        </p:nvSpPr>
        <p:spPr>
          <a:xfrm>
            <a:off x="1440873" y="1588655"/>
            <a:ext cx="8201891" cy="461665"/>
          </a:xfrm>
          <a:prstGeom prst="rect">
            <a:avLst/>
          </a:prstGeom>
          <a:noFill/>
        </p:spPr>
        <p:txBody>
          <a:bodyPr wrap="square" rtlCol="0">
            <a:spAutoFit/>
          </a:bodyPr>
          <a:lstStyle/>
          <a:p>
            <a:r>
              <a:rPr lang="zh-CN" altLang="en-US" sz="2400" dirty="0"/>
              <a:t>分组交换机：</a:t>
            </a:r>
            <a:r>
              <a:rPr lang="zh-CN" altLang="en-US" dirty="0"/>
              <a:t>路由器，链路层交换机</a:t>
            </a:r>
            <a:r>
              <a:rPr lang="en-US" altLang="zh-CN" dirty="0"/>
              <a:t>……</a:t>
            </a:r>
            <a:endParaRPr lang="zh-CN" altLang="en-US" sz="2400" dirty="0"/>
          </a:p>
        </p:txBody>
      </p:sp>
      <p:sp>
        <p:nvSpPr>
          <p:cNvPr id="6" name="文本框 5">
            <a:extLst>
              <a:ext uri="{FF2B5EF4-FFF2-40B4-BE49-F238E27FC236}">
                <a16:creationId xmlns:a16="http://schemas.microsoft.com/office/drawing/2014/main" id="{FB1D6FD7-93CF-4D83-AC89-8B5E2E21B528}"/>
              </a:ext>
            </a:extLst>
          </p:cNvPr>
          <p:cNvSpPr txBox="1"/>
          <p:nvPr/>
        </p:nvSpPr>
        <p:spPr>
          <a:xfrm>
            <a:off x="1440873" y="2549238"/>
            <a:ext cx="8866909" cy="461665"/>
          </a:xfrm>
          <a:prstGeom prst="rect">
            <a:avLst/>
          </a:prstGeom>
          <a:noFill/>
        </p:spPr>
        <p:txBody>
          <a:bodyPr wrap="square" rtlCol="0">
            <a:spAutoFit/>
          </a:bodyPr>
          <a:lstStyle/>
          <a:p>
            <a:r>
              <a:rPr lang="zh-CN" altLang="en-US" sz="2400" dirty="0"/>
              <a:t>路径：</a:t>
            </a:r>
            <a:r>
              <a:rPr lang="zh-CN" altLang="en-US" dirty="0"/>
              <a:t>一个分组经历的一系列通信链路和分组交换机。</a:t>
            </a:r>
            <a:endParaRPr lang="zh-CN" altLang="en-US" sz="2400" dirty="0"/>
          </a:p>
        </p:txBody>
      </p:sp>
      <p:sp>
        <p:nvSpPr>
          <p:cNvPr id="7" name="文本框 6">
            <a:extLst>
              <a:ext uri="{FF2B5EF4-FFF2-40B4-BE49-F238E27FC236}">
                <a16:creationId xmlns:a16="http://schemas.microsoft.com/office/drawing/2014/main" id="{82FB9DEB-4CA0-4CE8-88C0-8E41043780ED}"/>
              </a:ext>
            </a:extLst>
          </p:cNvPr>
          <p:cNvSpPr txBox="1"/>
          <p:nvPr/>
        </p:nvSpPr>
        <p:spPr>
          <a:xfrm>
            <a:off x="1440873" y="3749964"/>
            <a:ext cx="8996218" cy="1200329"/>
          </a:xfrm>
          <a:prstGeom prst="rect">
            <a:avLst/>
          </a:prstGeom>
          <a:noFill/>
        </p:spPr>
        <p:txBody>
          <a:bodyPr wrap="square" rtlCol="0">
            <a:spAutoFit/>
          </a:bodyPr>
          <a:lstStyle/>
          <a:p>
            <a:r>
              <a:rPr lang="en-US" altLang="zh-CN" dirty="0"/>
              <a:t>ISP(Internet service provider)</a:t>
            </a:r>
            <a:r>
              <a:rPr lang="zh-CN" altLang="en-US" dirty="0"/>
              <a:t>：英特网服务提供商</a:t>
            </a:r>
            <a:endParaRPr lang="en-US" altLang="zh-CN" dirty="0"/>
          </a:p>
          <a:p>
            <a:r>
              <a:rPr lang="en-US" altLang="zh-CN" dirty="0"/>
              <a:t>TCP(transmission control protocol)</a:t>
            </a:r>
            <a:r>
              <a:rPr lang="zh-CN" altLang="en-US" dirty="0"/>
              <a:t>：传输控制协议</a:t>
            </a:r>
            <a:endParaRPr lang="en-US" altLang="zh-CN" dirty="0"/>
          </a:p>
          <a:p>
            <a:r>
              <a:rPr lang="en-US" altLang="zh-CN" dirty="0"/>
              <a:t>IP(Internet protocol)</a:t>
            </a:r>
            <a:r>
              <a:rPr lang="zh-CN" altLang="en-US" dirty="0"/>
              <a:t>：网际协议</a:t>
            </a:r>
            <a:endParaRPr lang="en-US" altLang="zh-CN" dirty="0"/>
          </a:p>
          <a:p>
            <a:r>
              <a:rPr lang="en-US" altLang="zh-CN" dirty="0"/>
              <a:t>IETF(Internet Engineering Task Force)</a:t>
            </a:r>
            <a:r>
              <a:rPr lang="zh-CN" altLang="en-US" dirty="0"/>
              <a:t>：因特网工程任务组，其标准文件称为</a:t>
            </a:r>
            <a:r>
              <a:rPr lang="zh-CN" altLang="en-US" b="1" dirty="0"/>
              <a:t>请求评论</a:t>
            </a:r>
          </a:p>
        </p:txBody>
      </p:sp>
    </p:spTree>
    <p:extLst>
      <p:ext uri="{BB962C8B-B14F-4D97-AF65-F5344CB8AC3E}">
        <p14:creationId xmlns:p14="http://schemas.microsoft.com/office/powerpoint/2010/main" val="41076850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00EC8AF0-C4B8-4AF9-96E7-06BF848B3E09}"/>
              </a:ext>
            </a:extLst>
          </p:cNvPr>
          <p:cNvSpPr txBox="1"/>
          <p:nvPr/>
        </p:nvSpPr>
        <p:spPr>
          <a:xfrm>
            <a:off x="1376218" y="674255"/>
            <a:ext cx="9411855" cy="461665"/>
          </a:xfrm>
          <a:prstGeom prst="rect">
            <a:avLst/>
          </a:prstGeom>
          <a:noFill/>
        </p:spPr>
        <p:txBody>
          <a:bodyPr wrap="square" rtlCol="0">
            <a:spAutoFit/>
          </a:bodyPr>
          <a:lstStyle/>
          <a:p>
            <a:r>
              <a:rPr lang="zh-CN" altLang="en-US" sz="2400" dirty="0"/>
              <a:t>分布式应用程序：</a:t>
            </a:r>
            <a:r>
              <a:rPr lang="zh-CN" altLang="en-US" dirty="0"/>
              <a:t>涉及多个相互交换数据的端系统的应用程序。</a:t>
            </a:r>
            <a:endParaRPr lang="zh-CN" altLang="en-US" sz="2400" dirty="0"/>
          </a:p>
        </p:txBody>
      </p:sp>
      <p:sp>
        <p:nvSpPr>
          <p:cNvPr id="3" name="文本框 2">
            <a:extLst>
              <a:ext uri="{FF2B5EF4-FFF2-40B4-BE49-F238E27FC236}">
                <a16:creationId xmlns:a16="http://schemas.microsoft.com/office/drawing/2014/main" id="{12A74E9B-3279-4D9A-9B08-A95D5CF8E017}"/>
              </a:ext>
            </a:extLst>
          </p:cNvPr>
          <p:cNvSpPr txBox="1"/>
          <p:nvPr/>
        </p:nvSpPr>
        <p:spPr>
          <a:xfrm>
            <a:off x="1376218" y="1736436"/>
            <a:ext cx="9347200" cy="738664"/>
          </a:xfrm>
          <a:prstGeom prst="rect">
            <a:avLst/>
          </a:prstGeom>
          <a:noFill/>
        </p:spPr>
        <p:txBody>
          <a:bodyPr wrap="square" rtlCol="0">
            <a:spAutoFit/>
          </a:bodyPr>
          <a:lstStyle/>
          <a:p>
            <a:r>
              <a:rPr lang="zh-CN" altLang="en-US" sz="2400" dirty="0"/>
              <a:t>套接字接口：</a:t>
            </a:r>
            <a:r>
              <a:rPr lang="zh-CN" altLang="en-US" dirty="0"/>
              <a:t>规定了运行在一个端系统上的程序请求因特网基础设施向运行在另一个端系统上的特定目的地程序交付数据的方式。</a:t>
            </a:r>
            <a:endParaRPr lang="zh-CN" altLang="en-US" sz="2400" dirty="0"/>
          </a:p>
        </p:txBody>
      </p:sp>
      <p:sp>
        <p:nvSpPr>
          <p:cNvPr id="4" name="文本框 3">
            <a:extLst>
              <a:ext uri="{FF2B5EF4-FFF2-40B4-BE49-F238E27FC236}">
                <a16:creationId xmlns:a16="http://schemas.microsoft.com/office/drawing/2014/main" id="{6561E26D-10D4-4394-BE59-B7C827646A7F}"/>
              </a:ext>
            </a:extLst>
          </p:cNvPr>
          <p:cNvSpPr txBox="1"/>
          <p:nvPr/>
        </p:nvSpPr>
        <p:spPr>
          <a:xfrm>
            <a:off x="1376218" y="3075616"/>
            <a:ext cx="10178472" cy="738664"/>
          </a:xfrm>
          <a:prstGeom prst="rect">
            <a:avLst/>
          </a:prstGeom>
          <a:noFill/>
        </p:spPr>
        <p:txBody>
          <a:bodyPr wrap="square" rtlCol="0">
            <a:spAutoFit/>
          </a:bodyPr>
          <a:lstStyle/>
          <a:p>
            <a:r>
              <a:rPr lang="zh-CN" altLang="en-US" sz="2400" dirty="0"/>
              <a:t>协议</a:t>
            </a:r>
            <a:r>
              <a:rPr lang="en-US" altLang="zh-CN" sz="2400" dirty="0"/>
              <a:t>(protocol)</a:t>
            </a:r>
            <a:r>
              <a:rPr lang="zh-CN" altLang="en-US" sz="2400" dirty="0"/>
              <a:t>：</a:t>
            </a:r>
            <a:r>
              <a:rPr lang="zh-CN" altLang="en-US" dirty="0"/>
              <a:t>定义了两个或多个通信实体之间交换的报文的格式和顺序，以及报文发送和</a:t>
            </a:r>
            <a:r>
              <a:rPr lang="en-US" altLang="zh-CN" dirty="0"/>
              <a:t>/</a:t>
            </a:r>
            <a:r>
              <a:rPr lang="zh-CN" altLang="en-US" dirty="0"/>
              <a:t>或接受一条报文或其他事件所采取的行动</a:t>
            </a:r>
            <a:endParaRPr lang="zh-CN" altLang="en-US" sz="2400" dirty="0"/>
          </a:p>
        </p:txBody>
      </p:sp>
      <p:sp>
        <p:nvSpPr>
          <p:cNvPr id="5" name="文本框 4">
            <a:extLst>
              <a:ext uri="{FF2B5EF4-FFF2-40B4-BE49-F238E27FC236}">
                <a16:creationId xmlns:a16="http://schemas.microsoft.com/office/drawing/2014/main" id="{C9027464-4E07-4486-99C3-71B10C9BDFBC}"/>
              </a:ext>
            </a:extLst>
          </p:cNvPr>
          <p:cNvSpPr txBox="1"/>
          <p:nvPr/>
        </p:nvSpPr>
        <p:spPr>
          <a:xfrm>
            <a:off x="1376218" y="4461164"/>
            <a:ext cx="10178472" cy="461665"/>
          </a:xfrm>
          <a:prstGeom prst="rect">
            <a:avLst/>
          </a:prstGeom>
          <a:noFill/>
        </p:spPr>
        <p:txBody>
          <a:bodyPr wrap="square" rtlCol="0">
            <a:spAutoFit/>
          </a:bodyPr>
          <a:lstStyle/>
          <a:p>
            <a:r>
              <a:rPr lang="zh-CN" altLang="en-US" sz="2400" dirty="0"/>
              <a:t>接入网：</a:t>
            </a:r>
            <a:r>
              <a:rPr lang="zh-CN" altLang="en-US" dirty="0"/>
              <a:t>将端系统物理连接到其边缘路由器的网络</a:t>
            </a:r>
            <a:endParaRPr lang="zh-CN" altLang="en-US" sz="2400" dirty="0"/>
          </a:p>
        </p:txBody>
      </p:sp>
      <p:sp>
        <p:nvSpPr>
          <p:cNvPr id="6" name="文本框 5">
            <a:extLst>
              <a:ext uri="{FF2B5EF4-FFF2-40B4-BE49-F238E27FC236}">
                <a16:creationId xmlns:a16="http://schemas.microsoft.com/office/drawing/2014/main" id="{0EE9CCB6-12C2-4F4E-B199-A7880C4F1529}"/>
              </a:ext>
            </a:extLst>
          </p:cNvPr>
          <p:cNvSpPr txBox="1"/>
          <p:nvPr/>
        </p:nvSpPr>
        <p:spPr>
          <a:xfrm>
            <a:off x="1468582" y="5477164"/>
            <a:ext cx="9319491" cy="369332"/>
          </a:xfrm>
          <a:prstGeom prst="rect">
            <a:avLst/>
          </a:prstGeom>
          <a:noFill/>
        </p:spPr>
        <p:txBody>
          <a:bodyPr wrap="square" rtlCol="0">
            <a:spAutoFit/>
          </a:bodyPr>
          <a:lstStyle/>
          <a:p>
            <a:r>
              <a:rPr lang="en-US" altLang="zh-CN" dirty="0"/>
              <a:t>DSL(Digital Subscriber Line)</a:t>
            </a:r>
            <a:r>
              <a:rPr lang="zh-CN" altLang="en-US" dirty="0"/>
              <a:t>：数字用户线</a:t>
            </a:r>
          </a:p>
        </p:txBody>
      </p:sp>
    </p:spTree>
    <p:extLst>
      <p:ext uri="{BB962C8B-B14F-4D97-AF65-F5344CB8AC3E}">
        <p14:creationId xmlns:p14="http://schemas.microsoft.com/office/powerpoint/2010/main" val="3403884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AC13F4-4969-4409-A4DF-50A398DB04B2}"/>
              </a:ext>
            </a:extLst>
          </p:cNvPr>
          <p:cNvSpPr txBox="1"/>
          <p:nvPr/>
        </p:nvSpPr>
        <p:spPr>
          <a:xfrm>
            <a:off x="637308" y="637310"/>
            <a:ext cx="10492509" cy="584775"/>
          </a:xfrm>
          <a:prstGeom prst="rect">
            <a:avLst/>
          </a:prstGeom>
          <a:noFill/>
        </p:spPr>
        <p:txBody>
          <a:bodyPr wrap="square" rtlCol="0">
            <a:spAutoFit/>
          </a:bodyPr>
          <a:lstStyle/>
          <a:p>
            <a:pPr algn="ctr"/>
            <a:r>
              <a:rPr lang="zh-CN" altLang="en-US" sz="3200" b="1" dirty="0"/>
              <a:t>家庭接入种类</a:t>
            </a:r>
          </a:p>
        </p:txBody>
      </p:sp>
      <p:sp>
        <p:nvSpPr>
          <p:cNvPr id="3" name="文本框 2">
            <a:extLst>
              <a:ext uri="{FF2B5EF4-FFF2-40B4-BE49-F238E27FC236}">
                <a16:creationId xmlns:a16="http://schemas.microsoft.com/office/drawing/2014/main" id="{3F0FA6C0-341E-41D1-ADFD-4666E4D6695A}"/>
              </a:ext>
            </a:extLst>
          </p:cNvPr>
          <p:cNvSpPr txBox="1"/>
          <p:nvPr/>
        </p:nvSpPr>
        <p:spPr>
          <a:xfrm>
            <a:off x="1477819" y="1496291"/>
            <a:ext cx="8977746" cy="923330"/>
          </a:xfrm>
          <a:prstGeom prst="rect">
            <a:avLst/>
          </a:prstGeom>
          <a:noFill/>
        </p:spPr>
        <p:txBody>
          <a:bodyPr wrap="square" rtlCol="0">
            <a:spAutoFit/>
          </a:bodyPr>
          <a:lstStyle/>
          <a:p>
            <a:r>
              <a:rPr lang="zh-CN" altLang="en-US" dirty="0"/>
              <a:t>一、数字用户线</a:t>
            </a:r>
            <a:r>
              <a:rPr lang="en-US" altLang="zh-CN" dirty="0"/>
              <a:t>DSL</a:t>
            </a:r>
            <a:r>
              <a:rPr lang="zh-CN" altLang="en-US" dirty="0"/>
              <a:t>：与位于电话公司的本地中心局中的</a:t>
            </a:r>
            <a:r>
              <a:rPr lang="zh-CN" altLang="en-US" b="1" dirty="0"/>
              <a:t>数字用户接入复用器</a:t>
            </a:r>
            <a:r>
              <a:rPr lang="en-US" altLang="zh-CN" b="1" dirty="0"/>
              <a:t>(DSLAM)</a:t>
            </a:r>
          </a:p>
          <a:p>
            <a:r>
              <a:rPr lang="zh-CN" altLang="en-US" dirty="0"/>
              <a:t>交换数据，家庭的</a:t>
            </a:r>
            <a:r>
              <a:rPr lang="en-US" altLang="zh-CN" dirty="0"/>
              <a:t>DSL</a:t>
            </a:r>
            <a:r>
              <a:rPr lang="zh-CN" altLang="en-US" dirty="0"/>
              <a:t>调制解调器得到数字数据后转换为高频音，通过电话线传输给本地中心局（</a:t>
            </a:r>
            <a:r>
              <a:rPr lang="zh-CN" altLang="en-US" b="1" dirty="0"/>
              <a:t>双绞铜线</a:t>
            </a:r>
            <a:r>
              <a:rPr lang="zh-CN" altLang="en-US" dirty="0"/>
              <a:t>）</a:t>
            </a:r>
          </a:p>
        </p:txBody>
      </p:sp>
      <p:sp>
        <p:nvSpPr>
          <p:cNvPr id="4" name="文本框 3">
            <a:extLst>
              <a:ext uri="{FF2B5EF4-FFF2-40B4-BE49-F238E27FC236}">
                <a16:creationId xmlns:a16="http://schemas.microsoft.com/office/drawing/2014/main" id="{C2486E57-7C44-4D5E-8BB0-D9F60CAE8D6B}"/>
              </a:ext>
            </a:extLst>
          </p:cNvPr>
          <p:cNvSpPr txBox="1"/>
          <p:nvPr/>
        </p:nvSpPr>
        <p:spPr>
          <a:xfrm>
            <a:off x="1477817" y="2447637"/>
            <a:ext cx="8977745" cy="1200329"/>
          </a:xfrm>
          <a:prstGeom prst="rect">
            <a:avLst/>
          </a:prstGeom>
          <a:noFill/>
        </p:spPr>
        <p:txBody>
          <a:bodyPr wrap="square" rtlCol="0">
            <a:spAutoFit/>
          </a:bodyPr>
          <a:lstStyle/>
          <a:p>
            <a:r>
              <a:rPr lang="zh-CN" altLang="en-US" dirty="0"/>
              <a:t>二、电缆：利用有线电视公司现有的有线电视基础设施。光纤和电缆</a:t>
            </a:r>
            <a:r>
              <a:rPr lang="en-US" altLang="zh-CN" dirty="0"/>
              <a:t>(</a:t>
            </a:r>
            <a:r>
              <a:rPr lang="zh-CN" altLang="en-US" dirty="0"/>
              <a:t>混合光纤同轴系统，</a:t>
            </a:r>
            <a:r>
              <a:rPr lang="en-US" altLang="zh-CN" dirty="0"/>
              <a:t>HFC)</a:t>
            </a:r>
            <a:r>
              <a:rPr lang="zh-CN" altLang="en-US" dirty="0"/>
              <a:t>，在电缆头端，</a:t>
            </a:r>
            <a:r>
              <a:rPr lang="zh-CN" altLang="en-US" b="1" dirty="0"/>
              <a:t>电缆调制解调器端接系统</a:t>
            </a:r>
            <a:r>
              <a:rPr lang="en-US" altLang="zh-CN" b="1" dirty="0"/>
              <a:t>(CMTS)</a:t>
            </a:r>
            <a:r>
              <a:rPr lang="zh-CN" altLang="en-US" dirty="0"/>
              <a:t>与</a:t>
            </a:r>
            <a:r>
              <a:rPr lang="en-US" altLang="zh-CN" dirty="0"/>
              <a:t>DSL</a:t>
            </a:r>
            <a:r>
              <a:rPr lang="zh-CN" altLang="en-US" dirty="0"/>
              <a:t>的</a:t>
            </a:r>
            <a:r>
              <a:rPr lang="en-US" altLang="zh-CN" b="1" dirty="0"/>
              <a:t>DSLAM</a:t>
            </a:r>
            <a:r>
              <a:rPr lang="zh-CN" altLang="en-US" dirty="0"/>
              <a:t>有类似的功能</a:t>
            </a:r>
            <a:r>
              <a:rPr lang="en-US" altLang="zh-CN" dirty="0"/>
              <a:t>,CMTS</a:t>
            </a:r>
            <a:r>
              <a:rPr lang="zh-CN" altLang="en-US" dirty="0"/>
              <a:t>将网络划分为上行和下行两个信道，下行比上行快。（用户之间会相互影响网速）（</a:t>
            </a:r>
            <a:r>
              <a:rPr lang="zh-CN" altLang="en-US" b="1" dirty="0"/>
              <a:t>混合光纤同轴</a:t>
            </a:r>
            <a:r>
              <a:rPr lang="en-US" altLang="zh-CN" b="1" dirty="0"/>
              <a:t>=</a:t>
            </a:r>
            <a:r>
              <a:rPr lang="zh-CN" altLang="en-US" b="1" dirty="0"/>
              <a:t>光纤</a:t>
            </a:r>
            <a:r>
              <a:rPr lang="en-US" altLang="zh-CN" b="1" dirty="0"/>
              <a:t>+</a:t>
            </a:r>
            <a:r>
              <a:rPr lang="zh-CN" altLang="en-US" b="1" dirty="0"/>
              <a:t>同轴电缆</a:t>
            </a:r>
            <a:r>
              <a:rPr lang="zh-CN" altLang="en-US" dirty="0"/>
              <a:t>）</a:t>
            </a:r>
          </a:p>
        </p:txBody>
      </p:sp>
      <p:sp>
        <p:nvSpPr>
          <p:cNvPr id="5" name="文本框 4">
            <a:extLst>
              <a:ext uri="{FF2B5EF4-FFF2-40B4-BE49-F238E27FC236}">
                <a16:creationId xmlns:a16="http://schemas.microsoft.com/office/drawing/2014/main" id="{393C7AB5-6C8D-414C-8434-354BB1D9AE13}"/>
              </a:ext>
            </a:extLst>
          </p:cNvPr>
          <p:cNvSpPr txBox="1"/>
          <p:nvPr/>
        </p:nvSpPr>
        <p:spPr>
          <a:xfrm>
            <a:off x="1477817" y="3712652"/>
            <a:ext cx="8756073" cy="646331"/>
          </a:xfrm>
          <a:prstGeom prst="rect">
            <a:avLst/>
          </a:prstGeom>
          <a:noFill/>
        </p:spPr>
        <p:txBody>
          <a:bodyPr wrap="square" rtlCol="0">
            <a:spAutoFit/>
          </a:bodyPr>
          <a:lstStyle/>
          <a:p>
            <a:r>
              <a:rPr lang="zh-CN" altLang="en-US" dirty="0"/>
              <a:t>三、光纤到户</a:t>
            </a:r>
            <a:r>
              <a:rPr lang="en-US" altLang="zh-CN" dirty="0"/>
              <a:t>FTTH(Fiber To The Home)</a:t>
            </a:r>
            <a:r>
              <a:rPr lang="zh-CN" altLang="en-US" dirty="0"/>
              <a:t>：两种分配体系，</a:t>
            </a:r>
            <a:r>
              <a:rPr lang="zh-CN" altLang="en-US" b="1" dirty="0"/>
              <a:t>有源光纤网络</a:t>
            </a:r>
            <a:r>
              <a:rPr lang="en-US" altLang="zh-CN" b="1" dirty="0"/>
              <a:t>AON</a:t>
            </a:r>
            <a:r>
              <a:rPr lang="zh-CN" altLang="en-US" dirty="0"/>
              <a:t>，</a:t>
            </a:r>
            <a:r>
              <a:rPr lang="zh-CN" altLang="en-US" b="1" dirty="0"/>
              <a:t>无源光纤网络</a:t>
            </a:r>
            <a:r>
              <a:rPr lang="en-US" altLang="zh-CN" b="1" dirty="0"/>
              <a:t>PON </a:t>
            </a:r>
            <a:r>
              <a:rPr lang="zh-CN" altLang="en-US" dirty="0"/>
              <a:t>（</a:t>
            </a:r>
            <a:r>
              <a:rPr lang="zh-CN" altLang="en-US" b="1" dirty="0"/>
              <a:t>光纤</a:t>
            </a:r>
            <a:r>
              <a:rPr lang="zh-CN" altLang="en-US" dirty="0"/>
              <a:t>）</a:t>
            </a:r>
          </a:p>
        </p:txBody>
      </p:sp>
      <p:sp>
        <p:nvSpPr>
          <p:cNvPr id="6" name="文本框 5">
            <a:extLst>
              <a:ext uri="{FF2B5EF4-FFF2-40B4-BE49-F238E27FC236}">
                <a16:creationId xmlns:a16="http://schemas.microsoft.com/office/drawing/2014/main" id="{893630C2-2807-4275-8B63-88A370374F7A}"/>
              </a:ext>
            </a:extLst>
          </p:cNvPr>
          <p:cNvSpPr txBox="1"/>
          <p:nvPr/>
        </p:nvSpPr>
        <p:spPr>
          <a:xfrm>
            <a:off x="1477817" y="4688852"/>
            <a:ext cx="9651999" cy="369332"/>
          </a:xfrm>
          <a:prstGeom prst="rect">
            <a:avLst/>
          </a:prstGeom>
          <a:noFill/>
        </p:spPr>
        <p:txBody>
          <a:bodyPr wrap="square" rtlCol="0">
            <a:spAutoFit/>
          </a:bodyPr>
          <a:lstStyle/>
          <a:p>
            <a:r>
              <a:rPr lang="zh-CN" altLang="en-US" dirty="0"/>
              <a:t>四、拨号：</a:t>
            </a:r>
            <a:r>
              <a:rPr lang="en-US" altLang="zh-CN" dirty="0"/>
              <a:t>56kbps</a:t>
            </a:r>
            <a:r>
              <a:rPr lang="zh-CN" altLang="en-US" dirty="0"/>
              <a:t>，与</a:t>
            </a:r>
            <a:r>
              <a:rPr lang="en-US" altLang="zh-CN" dirty="0"/>
              <a:t>DSL</a:t>
            </a:r>
            <a:r>
              <a:rPr lang="zh-CN" altLang="en-US" dirty="0"/>
              <a:t>是同样的模式（</a:t>
            </a:r>
            <a:r>
              <a:rPr lang="zh-CN" altLang="en-US" b="1" dirty="0"/>
              <a:t>双绞铜线</a:t>
            </a:r>
            <a:r>
              <a:rPr lang="zh-CN" altLang="en-US" dirty="0"/>
              <a:t>）</a:t>
            </a:r>
          </a:p>
        </p:txBody>
      </p:sp>
      <p:sp>
        <p:nvSpPr>
          <p:cNvPr id="7" name="文本框 6">
            <a:extLst>
              <a:ext uri="{FF2B5EF4-FFF2-40B4-BE49-F238E27FC236}">
                <a16:creationId xmlns:a16="http://schemas.microsoft.com/office/drawing/2014/main" id="{581F870B-C13B-4F87-A2AB-2FBA25F4406B}"/>
              </a:ext>
            </a:extLst>
          </p:cNvPr>
          <p:cNvSpPr txBox="1"/>
          <p:nvPr/>
        </p:nvSpPr>
        <p:spPr>
          <a:xfrm>
            <a:off x="1477818" y="5532581"/>
            <a:ext cx="9494982" cy="369332"/>
          </a:xfrm>
          <a:prstGeom prst="rect">
            <a:avLst/>
          </a:prstGeom>
          <a:noFill/>
        </p:spPr>
        <p:txBody>
          <a:bodyPr wrap="square" rtlCol="0">
            <a:spAutoFit/>
          </a:bodyPr>
          <a:lstStyle/>
          <a:p>
            <a:r>
              <a:rPr lang="zh-CN" altLang="en-US" dirty="0"/>
              <a:t>五、卫星</a:t>
            </a:r>
            <a:r>
              <a:rPr lang="en-US" altLang="zh-CN" dirty="0">
                <a:sym typeface="Wingdings" panose="05000000000000000000" pitchFamily="2" charset="2"/>
              </a:rPr>
              <a:t>(</a:t>
            </a:r>
            <a:r>
              <a:rPr lang="zh-CN" altLang="en-US" dirty="0">
                <a:sym typeface="Wingdings" panose="05000000000000000000" pitchFamily="2" charset="2"/>
              </a:rPr>
              <a:t>在无法提供</a:t>
            </a:r>
            <a:r>
              <a:rPr lang="en-US" altLang="zh-CN" dirty="0">
                <a:sym typeface="Wingdings" panose="05000000000000000000" pitchFamily="2" charset="2"/>
              </a:rPr>
              <a:t>DSL</a:t>
            </a:r>
            <a:r>
              <a:rPr lang="zh-CN" altLang="en-US" dirty="0">
                <a:sym typeface="Wingdings" panose="05000000000000000000" pitchFamily="2" charset="2"/>
              </a:rPr>
              <a:t>、电缆、</a:t>
            </a:r>
            <a:r>
              <a:rPr lang="en-US" altLang="zh-CN" dirty="0">
                <a:sym typeface="Wingdings" panose="05000000000000000000" pitchFamily="2" charset="2"/>
              </a:rPr>
              <a:t>FTTH</a:t>
            </a:r>
            <a:r>
              <a:rPr lang="zh-CN" altLang="en-US" dirty="0">
                <a:sym typeface="Wingdings" panose="05000000000000000000" pitchFamily="2" charset="2"/>
              </a:rPr>
              <a:t>的地方</a:t>
            </a:r>
            <a:r>
              <a:rPr lang="en-US" altLang="zh-CN" dirty="0">
                <a:sym typeface="Wingdings" panose="05000000000000000000" pitchFamily="2" charset="2"/>
              </a:rPr>
              <a:t>)</a:t>
            </a:r>
            <a:r>
              <a:rPr lang="zh-CN" altLang="en-US" dirty="0">
                <a:sym typeface="Wingdings" panose="05000000000000000000" pitchFamily="2" charset="2"/>
              </a:rPr>
              <a:t>，</a:t>
            </a:r>
            <a:r>
              <a:rPr lang="en-US" altLang="zh-CN" dirty="0">
                <a:sym typeface="Wingdings" panose="05000000000000000000" pitchFamily="2" charset="2"/>
              </a:rPr>
              <a:t>1Mbps</a:t>
            </a:r>
            <a:r>
              <a:rPr lang="zh-CN" altLang="en-US" dirty="0">
                <a:sym typeface="Wingdings" panose="05000000000000000000" pitchFamily="2" charset="2"/>
              </a:rPr>
              <a:t>（</a:t>
            </a:r>
            <a:r>
              <a:rPr lang="zh-CN" altLang="en-US" b="1" dirty="0">
                <a:sym typeface="Wingdings" panose="05000000000000000000" pitchFamily="2" charset="2"/>
              </a:rPr>
              <a:t>卫星无线电频谱</a:t>
            </a:r>
            <a:r>
              <a:rPr lang="zh-CN" altLang="en-US" dirty="0">
                <a:sym typeface="Wingdings" panose="05000000000000000000" pitchFamily="2" charset="2"/>
              </a:rPr>
              <a:t>）</a:t>
            </a:r>
            <a:endParaRPr lang="zh-CN" altLang="en-US" dirty="0"/>
          </a:p>
        </p:txBody>
      </p:sp>
    </p:spTree>
    <p:extLst>
      <p:ext uri="{BB962C8B-B14F-4D97-AF65-F5344CB8AC3E}">
        <p14:creationId xmlns:p14="http://schemas.microsoft.com/office/powerpoint/2010/main" val="2326742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78059A8-5FB0-401D-A41D-20B39ED1DFEC}"/>
              </a:ext>
            </a:extLst>
          </p:cNvPr>
          <p:cNvSpPr txBox="1"/>
          <p:nvPr/>
        </p:nvSpPr>
        <p:spPr>
          <a:xfrm>
            <a:off x="655782" y="812800"/>
            <a:ext cx="10926618" cy="461665"/>
          </a:xfrm>
          <a:prstGeom prst="rect">
            <a:avLst/>
          </a:prstGeom>
          <a:noFill/>
        </p:spPr>
        <p:txBody>
          <a:bodyPr wrap="square" rtlCol="0">
            <a:spAutoFit/>
          </a:bodyPr>
          <a:lstStyle/>
          <a:p>
            <a:pPr algn="ctr"/>
            <a:r>
              <a:rPr lang="zh-CN" altLang="en-US" sz="2400" dirty="0"/>
              <a:t>企业</a:t>
            </a:r>
            <a:r>
              <a:rPr lang="en-US" altLang="zh-CN" sz="2400" dirty="0"/>
              <a:t>(</a:t>
            </a:r>
            <a:r>
              <a:rPr lang="zh-CN" altLang="en-US" sz="2400" dirty="0"/>
              <a:t>和家庭</a:t>
            </a:r>
            <a:r>
              <a:rPr lang="en-US" altLang="zh-CN" sz="2400" dirty="0"/>
              <a:t>)</a:t>
            </a:r>
            <a:r>
              <a:rPr lang="zh-CN" altLang="en-US" sz="2400" dirty="0"/>
              <a:t>接入：以太网和</a:t>
            </a:r>
            <a:r>
              <a:rPr lang="en-US" altLang="zh-CN" sz="2400" dirty="0"/>
              <a:t>WIFI</a:t>
            </a:r>
            <a:endParaRPr lang="zh-CN" altLang="en-US" sz="2400" dirty="0"/>
          </a:p>
        </p:txBody>
      </p:sp>
      <p:sp>
        <p:nvSpPr>
          <p:cNvPr id="3" name="文本框 2">
            <a:extLst>
              <a:ext uri="{FF2B5EF4-FFF2-40B4-BE49-F238E27FC236}">
                <a16:creationId xmlns:a16="http://schemas.microsoft.com/office/drawing/2014/main" id="{2F6C423C-B440-4059-8A14-E46881816019}"/>
              </a:ext>
            </a:extLst>
          </p:cNvPr>
          <p:cNvSpPr txBox="1"/>
          <p:nvPr/>
        </p:nvSpPr>
        <p:spPr>
          <a:xfrm>
            <a:off x="997527" y="1828799"/>
            <a:ext cx="9642764" cy="738664"/>
          </a:xfrm>
          <a:prstGeom prst="rect">
            <a:avLst/>
          </a:prstGeom>
          <a:noFill/>
        </p:spPr>
        <p:txBody>
          <a:bodyPr wrap="square" rtlCol="0">
            <a:spAutoFit/>
          </a:bodyPr>
          <a:lstStyle/>
          <a:p>
            <a:r>
              <a:rPr lang="zh-CN" altLang="en-US" sz="2400" dirty="0"/>
              <a:t>局域网：</a:t>
            </a:r>
            <a:r>
              <a:rPr lang="zh-CN" altLang="en-US" dirty="0"/>
              <a:t>以太网：以太网用户使用一条双绞铜线与一台以太网交换机相连。</a:t>
            </a:r>
            <a:r>
              <a:rPr lang="en-US" altLang="zh-CN" dirty="0"/>
              <a:t>(</a:t>
            </a:r>
            <a:r>
              <a:rPr lang="zh-CN" altLang="en-US" dirty="0"/>
              <a:t>网线</a:t>
            </a:r>
            <a:r>
              <a:rPr lang="en-US" altLang="zh-CN" dirty="0"/>
              <a:t>)</a:t>
            </a:r>
          </a:p>
          <a:p>
            <a:r>
              <a:rPr lang="en-US" altLang="zh-CN" dirty="0"/>
              <a:t>                    WIFI</a:t>
            </a:r>
            <a:r>
              <a:rPr lang="zh-CN" altLang="en-US" dirty="0"/>
              <a:t>：基于</a:t>
            </a:r>
            <a:r>
              <a:rPr lang="en-US" altLang="zh-CN" dirty="0"/>
              <a:t>IEEE</a:t>
            </a:r>
            <a:r>
              <a:rPr lang="zh-CN" altLang="en-US" dirty="0"/>
              <a:t>的</a:t>
            </a:r>
            <a:r>
              <a:rPr lang="en-US" altLang="zh-CN" dirty="0"/>
              <a:t>802.11</a:t>
            </a:r>
            <a:r>
              <a:rPr lang="zh-CN" altLang="en-US" dirty="0"/>
              <a:t>技术的无线</a:t>
            </a:r>
            <a:r>
              <a:rPr lang="en-US" altLang="zh-CN" dirty="0"/>
              <a:t>LAN</a:t>
            </a:r>
            <a:r>
              <a:rPr lang="zh-CN" altLang="en-US" dirty="0"/>
              <a:t>接入</a:t>
            </a:r>
            <a:endParaRPr lang="en-US" altLang="zh-CN" dirty="0"/>
          </a:p>
        </p:txBody>
      </p:sp>
      <p:sp>
        <p:nvSpPr>
          <p:cNvPr id="6" name="文本框 5">
            <a:extLst>
              <a:ext uri="{FF2B5EF4-FFF2-40B4-BE49-F238E27FC236}">
                <a16:creationId xmlns:a16="http://schemas.microsoft.com/office/drawing/2014/main" id="{BADDF4B2-DC4B-4D8B-9F92-92C8CDE99787}"/>
              </a:ext>
            </a:extLst>
          </p:cNvPr>
          <p:cNvSpPr txBox="1"/>
          <p:nvPr/>
        </p:nvSpPr>
        <p:spPr>
          <a:xfrm>
            <a:off x="997527" y="4064001"/>
            <a:ext cx="9679709" cy="1015663"/>
          </a:xfrm>
          <a:prstGeom prst="rect">
            <a:avLst/>
          </a:prstGeom>
          <a:noFill/>
        </p:spPr>
        <p:txBody>
          <a:bodyPr wrap="square" rtlCol="0">
            <a:spAutoFit/>
          </a:bodyPr>
          <a:lstStyle/>
          <a:p>
            <a:r>
              <a:rPr lang="zh-CN" altLang="en-US" sz="2400" dirty="0"/>
              <a:t>物理媒体：</a:t>
            </a:r>
            <a:r>
              <a:rPr lang="zh-CN" altLang="en-US" b="1" dirty="0"/>
              <a:t>导引型媒体：双绞铜线，同轴光缆，多模光纤维，陆地无线电频谱，卫星无线  </a:t>
            </a:r>
            <a:endParaRPr lang="en-US" altLang="zh-CN" b="1" dirty="0"/>
          </a:p>
          <a:p>
            <a:r>
              <a:rPr lang="en-US" altLang="zh-CN" b="1" dirty="0"/>
              <a:t>                                            </a:t>
            </a:r>
            <a:r>
              <a:rPr lang="zh-CN" altLang="en-US" b="1" dirty="0"/>
              <a:t>电频谱</a:t>
            </a:r>
            <a:r>
              <a:rPr lang="zh-CN" altLang="en-US" dirty="0"/>
              <a:t>（人工成本远高于材料成本）</a:t>
            </a:r>
            <a:endParaRPr lang="en-US" altLang="zh-CN" dirty="0"/>
          </a:p>
          <a:p>
            <a:r>
              <a:rPr lang="en-US" altLang="zh-CN" b="1" dirty="0"/>
              <a:t>	          </a:t>
            </a:r>
            <a:r>
              <a:rPr lang="zh-CN" altLang="en-US" b="1" dirty="0"/>
              <a:t>非导引型媒体：电波在空气中传播，无线局域网，数字卫星频道</a:t>
            </a:r>
          </a:p>
        </p:txBody>
      </p:sp>
    </p:spTree>
    <p:extLst>
      <p:ext uri="{BB962C8B-B14F-4D97-AF65-F5344CB8AC3E}">
        <p14:creationId xmlns:p14="http://schemas.microsoft.com/office/powerpoint/2010/main" val="1588267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4F6BEFFA-F615-490C-B6E7-069A4B1F5A31}"/>
              </a:ext>
            </a:extLst>
          </p:cNvPr>
          <p:cNvSpPr txBox="1"/>
          <p:nvPr/>
        </p:nvSpPr>
        <p:spPr>
          <a:xfrm>
            <a:off x="1468580" y="572655"/>
            <a:ext cx="9679709" cy="584775"/>
          </a:xfrm>
          <a:prstGeom prst="rect">
            <a:avLst/>
          </a:prstGeom>
          <a:noFill/>
        </p:spPr>
        <p:txBody>
          <a:bodyPr wrap="square" rtlCol="0">
            <a:spAutoFit/>
          </a:bodyPr>
          <a:lstStyle/>
          <a:p>
            <a:pPr algn="ctr"/>
            <a:r>
              <a:rPr lang="zh-CN" altLang="en-US" sz="3200" b="1" dirty="0"/>
              <a:t>物理媒体</a:t>
            </a:r>
            <a:endParaRPr lang="zh-CN" altLang="en-US" sz="2400" b="1" dirty="0"/>
          </a:p>
        </p:txBody>
      </p:sp>
      <p:sp>
        <p:nvSpPr>
          <p:cNvPr id="4" name="文本框 3">
            <a:extLst>
              <a:ext uri="{FF2B5EF4-FFF2-40B4-BE49-F238E27FC236}">
                <a16:creationId xmlns:a16="http://schemas.microsoft.com/office/drawing/2014/main" id="{82C79D23-6C4F-4EE4-9E53-C7F5C7722473}"/>
              </a:ext>
            </a:extLst>
          </p:cNvPr>
          <p:cNvSpPr txBox="1"/>
          <p:nvPr/>
        </p:nvSpPr>
        <p:spPr>
          <a:xfrm>
            <a:off x="544943" y="1625004"/>
            <a:ext cx="10649528" cy="523220"/>
          </a:xfrm>
          <a:prstGeom prst="rect">
            <a:avLst/>
          </a:prstGeom>
          <a:noFill/>
        </p:spPr>
        <p:txBody>
          <a:bodyPr wrap="square" rtlCol="0">
            <a:spAutoFit/>
          </a:bodyPr>
          <a:lstStyle/>
          <a:p>
            <a:r>
              <a:rPr lang="zh-CN" altLang="en-US" sz="2800" dirty="0"/>
              <a:t>双绞铜线：</a:t>
            </a:r>
            <a:r>
              <a:rPr lang="zh-CN" altLang="en-US" sz="2000" dirty="0"/>
              <a:t>两根绝缘的铜线绞合而成，近距离，百米之类</a:t>
            </a:r>
            <a:endParaRPr lang="zh-CN" altLang="en-US" sz="2800" dirty="0"/>
          </a:p>
        </p:txBody>
      </p:sp>
      <p:sp>
        <p:nvSpPr>
          <p:cNvPr id="5" name="文本框 4">
            <a:extLst>
              <a:ext uri="{FF2B5EF4-FFF2-40B4-BE49-F238E27FC236}">
                <a16:creationId xmlns:a16="http://schemas.microsoft.com/office/drawing/2014/main" id="{97EB0E69-454D-42F9-B435-BB8073567FD7}"/>
              </a:ext>
            </a:extLst>
          </p:cNvPr>
          <p:cNvSpPr txBox="1"/>
          <p:nvPr/>
        </p:nvSpPr>
        <p:spPr>
          <a:xfrm>
            <a:off x="544943" y="2499806"/>
            <a:ext cx="10649528" cy="830997"/>
          </a:xfrm>
          <a:prstGeom prst="rect">
            <a:avLst/>
          </a:prstGeom>
          <a:noFill/>
        </p:spPr>
        <p:txBody>
          <a:bodyPr wrap="square" rtlCol="0">
            <a:spAutoFit/>
          </a:bodyPr>
          <a:lstStyle/>
          <a:p>
            <a:r>
              <a:rPr lang="zh-CN" altLang="en-US" sz="2800" dirty="0"/>
              <a:t>同轴光缆：</a:t>
            </a:r>
            <a:r>
              <a:rPr lang="zh-CN" altLang="en-US" sz="2000" dirty="0"/>
              <a:t>两个同心铜导体，高速，能被用作</a:t>
            </a:r>
            <a:r>
              <a:rPr lang="zh-CN" altLang="en-US" sz="2000" b="1" dirty="0"/>
              <a:t>引导性共享媒体，</a:t>
            </a:r>
            <a:r>
              <a:rPr lang="zh-CN" altLang="en-US" sz="2000" dirty="0"/>
              <a:t>许多端系统能直接与电缆   </a:t>
            </a:r>
            <a:endParaRPr lang="en-US" altLang="zh-CN" sz="2000" dirty="0"/>
          </a:p>
          <a:p>
            <a:r>
              <a:rPr lang="en-US" altLang="zh-CN" sz="2000" dirty="0"/>
              <a:t>                         </a:t>
            </a:r>
            <a:r>
              <a:rPr lang="zh-CN" altLang="en-US" sz="2000" dirty="0"/>
              <a:t>相连，每个端系统都能接受由其他端系统发送的内容</a:t>
            </a:r>
            <a:endParaRPr lang="zh-CN" altLang="en-US" sz="2800" b="1" dirty="0"/>
          </a:p>
        </p:txBody>
      </p:sp>
      <p:sp>
        <p:nvSpPr>
          <p:cNvPr id="6" name="文本框 5">
            <a:extLst>
              <a:ext uri="{FF2B5EF4-FFF2-40B4-BE49-F238E27FC236}">
                <a16:creationId xmlns:a16="http://schemas.microsoft.com/office/drawing/2014/main" id="{C53733F7-1627-4911-A4FE-FEA88697B694}"/>
              </a:ext>
            </a:extLst>
          </p:cNvPr>
          <p:cNvSpPr txBox="1"/>
          <p:nvPr/>
        </p:nvSpPr>
        <p:spPr>
          <a:xfrm>
            <a:off x="544943" y="3682385"/>
            <a:ext cx="10381671" cy="523220"/>
          </a:xfrm>
          <a:prstGeom prst="rect">
            <a:avLst/>
          </a:prstGeom>
          <a:noFill/>
        </p:spPr>
        <p:txBody>
          <a:bodyPr wrap="square" rtlCol="0">
            <a:spAutoFit/>
          </a:bodyPr>
          <a:lstStyle/>
          <a:p>
            <a:r>
              <a:rPr lang="zh-CN" altLang="en-US" sz="2800" dirty="0"/>
              <a:t>光纤：</a:t>
            </a:r>
            <a:r>
              <a:rPr lang="zh-CN" altLang="en-US" sz="2000" dirty="0"/>
              <a:t>光纤是一种细而柔软的、能够引导光脉冲的媒体，高速</a:t>
            </a:r>
            <a:endParaRPr lang="zh-CN" altLang="en-US" sz="2800" dirty="0"/>
          </a:p>
        </p:txBody>
      </p:sp>
      <p:sp>
        <p:nvSpPr>
          <p:cNvPr id="7" name="文本框 6">
            <a:extLst>
              <a:ext uri="{FF2B5EF4-FFF2-40B4-BE49-F238E27FC236}">
                <a16:creationId xmlns:a16="http://schemas.microsoft.com/office/drawing/2014/main" id="{B131B4FE-8BBF-48D0-869E-A4F475C46844}"/>
              </a:ext>
            </a:extLst>
          </p:cNvPr>
          <p:cNvSpPr txBox="1"/>
          <p:nvPr/>
        </p:nvSpPr>
        <p:spPr>
          <a:xfrm>
            <a:off x="544943" y="4584729"/>
            <a:ext cx="10474037" cy="461665"/>
          </a:xfrm>
          <a:prstGeom prst="rect">
            <a:avLst/>
          </a:prstGeom>
          <a:noFill/>
        </p:spPr>
        <p:txBody>
          <a:bodyPr wrap="square" rtlCol="0">
            <a:spAutoFit/>
          </a:bodyPr>
          <a:lstStyle/>
          <a:p>
            <a:r>
              <a:rPr lang="zh-CN" altLang="en-US" sz="2400" dirty="0"/>
              <a:t>陆地无线电信道：三类：很短距离、局域、广域</a:t>
            </a:r>
            <a:endParaRPr lang="en-US" altLang="zh-CN" sz="2400" dirty="0"/>
          </a:p>
        </p:txBody>
      </p:sp>
      <p:sp>
        <p:nvSpPr>
          <p:cNvPr id="8" name="文本框 7">
            <a:extLst>
              <a:ext uri="{FF2B5EF4-FFF2-40B4-BE49-F238E27FC236}">
                <a16:creationId xmlns:a16="http://schemas.microsoft.com/office/drawing/2014/main" id="{28C2DEE2-D7F4-4B32-A20E-97B6D6D9BA96}"/>
              </a:ext>
            </a:extLst>
          </p:cNvPr>
          <p:cNvSpPr txBox="1"/>
          <p:nvPr/>
        </p:nvSpPr>
        <p:spPr>
          <a:xfrm>
            <a:off x="544943" y="5425518"/>
            <a:ext cx="10557164" cy="461665"/>
          </a:xfrm>
          <a:prstGeom prst="rect">
            <a:avLst/>
          </a:prstGeom>
          <a:noFill/>
        </p:spPr>
        <p:txBody>
          <a:bodyPr wrap="square" rtlCol="0">
            <a:spAutoFit/>
          </a:bodyPr>
          <a:lstStyle/>
          <a:p>
            <a:r>
              <a:rPr lang="zh-CN" altLang="en-US" sz="2400" dirty="0"/>
              <a:t>卫星无线电信道：光域，覆盖广</a:t>
            </a:r>
          </a:p>
        </p:txBody>
      </p:sp>
    </p:spTree>
    <p:extLst>
      <p:ext uri="{BB962C8B-B14F-4D97-AF65-F5344CB8AC3E}">
        <p14:creationId xmlns:p14="http://schemas.microsoft.com/office/powerpoint/2010/main" val="7472808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11F3C1-7A93-4C7E-BDFD-E155DFA4CC4C}"/>
              </a:ext>
            </a:extLst>
          </p:cNvPr>
          <p:cNvSpPr txBox="1"/>
          <p:nvPr/>
        </p:nvSpPr>
        <p:spPr>
          <a:xfrm>
            <a:off x="794327" y="720436"/>
            <a:ext cx="10751128" cy="584775"/>
          </a:xfrm>
          <a:prstGeom prst="rect">
            <a:avLst/>
          </a:prstGeom>
          <a:noFill/>
        </p:spPr>
        <p:txBody>
          <a:bodyPr wrap="square" rtlCol="0">
            <a:spAutoFit/>
          </a:bodyPr>
          <a:lstStyle/>
          <a:p>
            <a:pPr algn="ctr"/>
            <a:r>
              <a:rPr lang="zh-CN" altLang="en-US" sz="3200" b="1" dirty="0"/>
              <a:t>存储转发传输</a:t>
            </a:r>
          </a:p>
        </p:txBody>
      </p:sp>
      <p:sp>
        <p:nvSpPr>
          <p:cNvPr id="5" name="文本框 4">
            <a:extLst>
              <a:ext uri="{FF2B5EF4-FFF2-40B4-BE49-F238E27FC236}">
                <a16:creationId xmlns:a16="http://schemas.microsoft.com/office/drawing/2014/main" id="{11CA9DC7-25B2-4170-B58B-C79607DF221E}"/>
              </a:ext>
            </a:extLst>
          </p:cNvPr>
          <p:cNvSpPr txBox="1"/>
          <p:nvPr/>
        </p:nvSpPr>
        <p:spPr>
          <a:xfrm>
            <a:off x="1016000" y="3953164"/>
            <a:ext cx="10603345" cy="1384995"/>
          </a:xfrm>
          <a:prstGeom prst="rect">
            <a:avLst/>
          </a:prstGeom>
          <a:noFill/>
        </p:spPr>
        <p:txBody>
          <a:bodyPr wrap="square" rtlCol="0">
            <a:spAutoFit/>
          </a:bodyPr>
          <a:lstStyle/>
          <a:p>
            <a:r>
              <a:rPr lang="zh-CN" altLang="en-US" sz="2400" b="1" dirty="0"/>
              <a:t>排队时延和分组丢失：</a:t>
            </a:r>
            <a:r>
              <a:rPr lang="zh-CN" altLang="en-US" sz="2000" dirty="0"/>
              <a:t>每台分组交换机有多条链路与之相连，对于每条相连的链路，该分组交换机具有一个</a:t>
            </a:r>
            <a:r>
              <a:rPr lang="zh-CN" altLang="en-US" sz="2000" b="1" dirty="0"/>
              <a:t>输出缓存</a:t>
            </a:r>
            <a:r>
              <a:rPr lang="zh-CN" altLang="en-US" sz="2000" dirty="0"/>
              <a:t>也叫</a:t>
            </a:r>
            <a:r>
              <a:rPr lang="zh-CN" altLang="en-US" sz="2000" b="1" dirty="0"/>
              <a:t>输出队列，</a:t>
            </a:r>
            <a:r>
              <a:rPr lang="zh-CN" altLang="en-US" sz="2000" dirty="0"/>
              <a:t>除了存储转发延迟外，还有排队延迟，因为存储队列大小有限，当充满时会溢出，造成分组丢失</a:t>
            </a:r>
            <a:r>
              <a:rPr lang="en-US" altLang="zh-CN" sz="2000" dirty="0"/>
              <a:t>(</a:t>
            </a:r>
            <a:r>
              <a:rPr lang="zh-CN" altLang="en-US" sz="2000" dirty="0"/>
              <a:t>随机的，可能是已经到达的分组或者已经排队的分组</a:t>
            </a:r>
            <a:r>
              <a:rPr lang="en-US" altLang="zh-CN" sz="2000" dirty="0"/>
              <a:t>)</a:t>
            </a:r>
            <a:r>
              <a:rPr lang="zh-CN" altLang="en-US" sz="2000" dirty="0"/>
              <a:t>对于路由器来讲，输入速率大于输出速率会有问题。</a:t>
            </a:r>
            <a:endParaRPr lang="zh-CN" altLang="en-US" sz="2400" b="1" dirty="0"/>
          </a:p>
        </p:txBody>
      </p:sp>
      <p:sp>
        <p:nvSpPr>
          <p:cNvPr id="3" name="文本框 2">
            <a:extLst>
              <a:ext uri="{FF2B5EF4-FFF2-40B4-BE49-F238E27FC236}">
                <a16:creationId xmlns:a16="http://schemas.microsoft.com/office/drawing/2014/main" id="{E2920C31-AFF8-422B-847A-41B28F21ED66}"/>
              </a:ext>
            </a:extLst>
          </p:cNvPr>
          <p:cNvSpPr txBox="1"/>
          <p:nvPr/>
        </p:nvSpPr>
        <p:spPr>
          <a:xfrm>
            <a:off x="932873" y="1681018"/>
            <a:ext cx="9818254" cy="1015663"/>
          </a:xfrm>
          <a:prstGeom prst="rect">
            <a:avLst/>
          </a:prstGeom>
          <a:noFill/>
        </p:spPr>
        <p:txBody>
          <a:bodyPr wrap="square" rtlCol="0">
            <a:spAutoFit/>
          </a:bodyPr>
          <a:lstStyle/>
          <a:p>
            <a:r>
              <a:rPr lang="zh-CN" altLang="en-US" sz="2400" b="1" dirty="0"/>
              <a:t>存储转发传输机制：</a:t>
            </a:r>
            <a:r>
              <a:rPr lang="zh-CN" altLang="en-US" dirty="0"/>
              <a:t>多数分组交换机在链路的输入端使用存储转发传输机制。存储转发机制是指在交换机能够开始向输出链路传输该链路传输</a:t>
            </a:r>
            <a:r>
              <a:rPr lang="zh-CN" altLang="en-US" b="1" dirty="0"/>
              <a:t>该分组的第一个比特</a:t>
            </a:r>
            <a:r>
              <a:rPr lang="zh-CN" altLang="en-US" dirty="0"/>
              <a:t>之前，必须接收到整个</a:t>
            </a:r>
            <a:r>
              <a:rPr lang="zh-CN" altLang="en-US" b="1" dirty="0"/>
              <a:t>分组</a:t>
            </a:r>
          </a:p>
        </p:txBody>
      </p:sp>
      <p:sp>
        <p:nvSpPr>
          <p:cNvPr id="4" name="文本框 3">
            <a:extLst>
              <a:ext uri="{FF2B5EF4-FFF2-40B4-BE49-F238E27FC236}">
                <a16:creationId xmlns:a16="http://schemas.microsoft.com/office/drawing/2014/main" id="{1D00332C-4FE5-46A8-A0EA-AC69806B9B1A}"/>
              </a:ext>
            </a:extLst>
          </p:cNvPr>
          <p:cNvSpPr txBox="1"/>
          <p:nvPr/>
        </p:nvSpPr>
        <p:spPr>
          <a:xfrm>
            <a:off x="932873" y="2835564"/>
            <a:ext cx="10520218" cy="738664"/>
          </a:xfrm>
          <a:prstGeom prst="rect">
            <a:avLst/>
          </a:prstGeom>
          <a:noFill/>
        </p:spPr>
        <p:txBody>
          <a:bodyPr wrap="square" rtlCol="0">
            <a:spAutoFit/>
          </a:bodyPr>
          <a:lstStyle/>
          <a:p>
            <a:r>
              <a:rPr lang="zh-CN" altLang="en-US" sz="2400" b="1" dirty="0"/>
              <a:t>存储转发延迟：</a:t>
            </a:r>
            <a:r>
              <a:rPr lang="zh-CN" altLang="en-US" dirty="0"/>
              <a:t>例如：一个</a:t>
            </a:r>
            <a:r>
              <a:rPr lang="en-US" altLang="zh-CN" dirty="0"/>
              <a:t>L</a:t>
            </a:r>
            <a:r>
              <a:rPr lang="zh-CN" altLang="en-US" dirty="0"/>
              <a:t>比特的分组，链路传输速率为</a:t>
            </a:r>
            <a:r>
              <a:rPr lang="en-US" altLang="zh-CN" dirty="0"/>
              <a:t>R</a:t>
            </a:r>
            <a:r>
              <a:rPr lang="zh-CN" altLang="en-US" dirty="0"/>
              <a:t>，则存储转发延时为</a:t>
            </a:r>
            <a:r>
              <a:rPr lang="en-US" altLang="zh-CN" dirty="0"/>
              <a:t>2L/R,</a:t>
            </a:r>
            <a:r>
              <a:rPr lang="zh-CN" altLang="en-US" dirty="0"/>
              <a:t>如果有</a:t>
            </a:r>
            <a:r>
              <a:rPr lang="en-US" altLang="zh-CN" dirty="0"/>
              <a:t>N</a:t>
            </a:r>
            <a:r>
              <a:rPr lang="zh-CN" altLang="en-US" dirty="0"/>
              <a:t>条链路</a:t>
            </a:r>
            <a:r>
              <a:rPr lang="en-US" altLang="zh-CN" dirty="0"/>
              <a:t>(</a:t>
            </a:r>
            <a:r>
              <a:rPr lang="zh-CN" altLang="en-US" dirty="0"/>
              <a:t>非并列</a:t>
            </a:r>
            <a:r>
              <a:rPr lang="en-US" altLang="zh-CN" dirty="0"/>
              <a:t>)</a:t>
            </a:r>
            <a:r>
              <a:rPr lang="zh-CN" altLang="en-US" dirty="0"/>
              <a:t>则存储转发延迟为</a:t>
            </a:r>
            <a:r>
              <a:rPr lang="en-US" altLang="zh-CN" dirty="0"/>
              <a:t>NL/R</a:t>
            </a:r>
          </a:p>
        </p:txBody>
      </p:sp>
    </p:spTree>
    <p:extLst>
      <p:ext uri="{BB962C8B-B14F-4D97-AF65-F5344CB8AC3E}">
        <p14:creationId xmlns:p14="http://schemas.microsoft.com/office/powerpoint/2010/main" val="234783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261E25DC-5055-4D66-9C20-8353911D4242}"/>
              </a:ext>
            </a:extLst>
          </p:cNvPr>
          <p:cNvSpPr txBox="1"/>
          <p:nvPr/>
        </p:nvSpPr>
        <p:spPr>
          <a:xfrm>
            <a:off x="1034474" y="415636"/>
            <a:ext cx="9845963" cy="584775"/>
          </a:xfrm>
          <a:prstGeom prst="rect">
            <a:avLst/>
          </a:prstGeom>
          <a:noFill/>
        </p:spPr>
        <p:txBody>
          <a:bodyPr wrap="square" rtlCol="0">
            <a:spAutoFit/>
          </a:bodyPr>
          <a:lstStyle/>
          <a:p>
            <a:pPr algn="ctr"/>
            <a:r>
              <a:rPr lang="zh-CN" altLang="en-US" sz="3200" b="1" dirty="0"/>
              <a:t>转发表和路由选择协议</a:t>
            </a:r>
          </a:p>
        </p:txBody>
      </p:sp>
      <p:sp>
        <p:nvSpPr>
          <p:cNvPr id="3" name="文本框 2">
            <a:extLst>
              <a:ext uri="{FF2B5EF4-FFF2-40B4-BE49-F238E27FC236}">
                <a16:creationId xmlns:a16="http://schemas.microsoft.com/office/drawing/2014/main" id="{D74B042C-6778-4461-8770-A177D5C584BE}"/>
              </a:ext>
            </a:extLst>
          </p:cNvPr>
          <p:cNvSpPr txBox="1"/>
          <p:nvPr/>
        </p:nvSpPr>
        <p:spPr>
          <a:xfrm>
            <a:off x="965200" y="1342479"/>
            <a:ext cx="10261600" cy="4524315"/>
          </a:xfrm>
          <a:prstGeom prst="rect">
            <a:avLst/>
          </a:prstGeom>
          <a:noFill/>
        </p:spPr>
        <p:txBody>
          <a:bodyPr wrap="square" rtlCol="0">
            <a:spAutoFit/>
          </a:bodyPr>
          <a:lstStyle/>
          <a:p>
            <a:r>
              <a:rPr lang="zh-CN" altLang="en-US" sz="1600" dirty="0"/>
              <a:t>每个端系统具有个称为 </a:t>
            </a:r>
            <a:r>
              <a:rPr lang="en-US" altLang="zh-CN" sz="1600" dirty="0"/>
              <a:t>IP</a:t>
            </a:r>
            <a:r>
              <a:rPr lang="zh-CN" altLang="en-US" sz="1600" dirty="0"/>
              <a:t>地址的地址。当源主机要向目的瑞系统发这个分组时， 源在该分组的首部包含了目的地的</a:t>
            </a:r>
            <a:r>
              <a:rPr lang="en-US" altLang="zh-CN" sz="1600" dirty="0"/>
              <a:t>P</a:t>
            </a:r>
            <a:r>
              <a:rPr lang="zh-CN" altLang="en-US" sz="1600" dirty="0"/>
              <a:t>地址。当一个分组到达网络中的路由器时，路由器检在该分组的目的地址的一部分， 并向一百相邻路由器转发该分组。更特别的是，每台路由器具有一个转发表，用于将目的地址</a:t>
            </a:r>
            <a:r>
              <a:rPr lang="en-US" altLang="zh-CN" sz="1600" dirty="0"/>
              <a:t>(</a:t>
            </a:r>
            <a:r>
              <a:rPr lang="zh-CN" altLang="en-US" sz="1600" dirty="0"/>
              <a:t>或目的地址的部分</a:t>
            </a:r>
            <a:r>
              <a:rPr lang="en-US" altLang="zh-CN" sz="1600" dirty="0"/>
              <a:t>) </a:t>
            </a:r>
            <a:r>
              <a:rPr lang="zh-CN" altLang="en-US" sz="1600" dirty="0"/>
              <a:t>映射成为输出链路。当某分组到达一台路由器时， 路由器检查该地址，并用这个目的地址搜索其转发表，以发现适当的出链路。路由器则将分组导向该出链路。</a:t>
            </a:r>
            <a:endParaRPr lang="en-US" altLang="zh-CN" sz="1600" dirty="0"/>
          </a:p>
          <a:p>
            <a:endParaRPr lang="en-US" altLang="zh-CN" sz="1600" dirty="0"/>
          </a:p>
          <a:p>
            <a:endParaRPr lang="en-US" altLang="zh-CN" sz="1600" dirty="0"/>
          </a:p>
          <a:p>
            <a:r>
              <a:rPr lang="zh-CN" altLang="en-US" sz="1600" dirty="0"/>
              <a:t>端到端选路过程可以用一个不使用地图而喜欢问路的汽车驾驶员来类比。</a:t>
            </a:r>
            <a:endParaRPr lang="en-US" altLang="zh-CN" sz="1600" dirty="0"/>
          </a:p>
          <a:p>
            <a:r>
              <a:rPr lang="zh-CN" altLang="en-US" sz="1600" dirty="0"/>
              <a:t>例如，假定</a:t>
            </a:r>
            <a:r>
              <a:rPr lang="en-US" altLang="zh-CN" sz="1600" dirty="0"/>
              <a:t>Joe</a:t>
            </a:r>
            <a:r>
              <a:rPr lang="zh-CN" altLang="en-US" sz="1600" dirty="0"/>
              <a:t>驾车从费城到佛罗里达州奥兰多市的</a:t>
            </a:r>
            <a:r>
              <a:rPr lang="en-US" altLang="zh-CN" sz="1600" dirty="0"/>
              <a:t>Lakeside Drive </a:t>
            </a:r>
            <a:r>
              <a:rPr lang="zh-CN" altLang="en-US" sz="1600" dirty="0"/>
              <a:t>街</a:t>
            </a:r>
            <a:r>
              <a:rPr lang="en-US" altLang="zh-CN" sz="1600" dirty="0"/>
              <a:t>156</a:t>
            </a:r>
            <a:r>
              <a:rPr lang="zh-CN" altLang="en-US" sz="1600" dirty="0"/>
              <a:t>号。</a:t>
            </a:r>
            <a:r>
              <a:rPr lang="en-US" altLang="zh-CN" sz="1600" dirty="0"/>
              <a:t>Joe </a:t>
            </a:r>
            <a:r>
              <a:rPr lang="zh-CN" altLang="en-US" sz="1600" dirty="0"/>
              <a:t>先驾车到附近的加油站，询问怎样才能到达佛罗里达州奥兰多市的</a:t>
            </a:r>
            <a:r>
              <a:rPr lang="en-US" altLang="zh-CN" sz="1600" dirty="0"/>
              <a:t>Lakeside Drive </a:t>
            </a:r>
            <a:r>
              <a:rPr lang="zh-CN" altLang="en-US" sz="1600" dirty="0"/>
              <a:t>街</a:t>
            </a:r>
            <a:r>
              <a:rPr lang="en-US" altLang="zh-CN" sz="1600" dirty="0"/>
              <a:t>156</a:t>
            </a:r>
            <a:r>
              <a:rPr lang="zh-CN" altLang="en-US" sz="1600" dirty="0"/>
              <a:t>号。加油站的服名员从该地址中抽取了佛罗里达州部分，告诉</a:t>
            </a:r>
            <a:r>
              <a:rPr lang="en-US" altLang="zh-CN" sz="1600" dirty="0"/>
              <a:t>Joe</a:t>
            </a:r>
            <a:r>
              <a:rPr lang="zh-CN" altLang="en-US" sz="1600" dirty="0"/>
              <a:t>他需要上</a:t>
            </a:r>
            <a:r>
              <a:rPr lang="en-US" altLang="zh-CN" sz="1600" dirty="0"/>
              <a:t>1-95</a:t>
            </a:r>
            <a:r>
              <a:rPr lang="zh-CN" altLang="en-US" sz="1600" dirty="0"/>
              <a:t>南州际公路，该公路恰有一个邻近该加油站的人口。他又告诉</a:t>
            </a:r>
            <a:r>
              <a:rPr lang="en-US" altLang="zh-CN" sz="1600" dirty="0"/>
              <a:t>Joe, </a:t>
            </a:r>
            <a:r>
              <a:rPr lang="zh-CN" altLang="en-US" sz="1600" dirty="0"/>
              <a:t>一且到了佛罗里达后应当再问当地人。于是，</a:t>
            </a:r>
            <a:r>
              <a:rPr lang="en-US" altLang="zh-CN" sz="1600" dirty="0"/>
              <a:t>he</a:t>
            </a:r>
            <a:r>
              <a:rPr lang="zh-CN" altLang="en-US" sz="1600" dirty="0"/>
              <a:t>上了</a:t>
            </a:r>
            <a:r>
              <a:rPr lang="en-US" altLang="zh-CN" sz="1600" dirty="0"/>
              <a:t>1-95</a:t>
            </a:r>
            <a:r>
              <a:rPr lang="zh-CN" altLang="en-US" sz="1600" dirty="0"/>
              <a:t>南州际公路，直到达佛罗 里达的</a:t>
            </a:r>
            <a:r>
              <a:rPr lang="en-US" altLang="zh-CN" sz="1600" dirty="0" err="1"/>
              <a:t>Jaorsie</a:t>
            </a:r>
            <a:r>
              <a:rPr lang="en-US" altLang="zh-CN" sz="1600" dirty="0"/>
              <a:t>,</a:t>
            </a:r>
            <a:r>
              <a:rPr lang="zh-CN" altLang="en-US" sz="1600" dirty="0"/>
              <a:t>在那里他向另一个加油站服务员问路。该服务员从地址中抽取了奥兰多市部分，告诉</a:t>
            </a:r>
            <a:r>
              <a:rPr lang="en-US" altLang="zh-CN" sz="1600" dirty="0"/>
              <a:t>Joe</a:t>
            </a:r>
            <a:r>
              <a:rPr lang="zh-CN" altLang="en-US" sz="1600" dirty="0"/>
              <a:t>他应当继续沿</a:t>
            </a:r>
            <a:r>
              <a:rPr lang="en-US" altLang="zh-CN" sz="1600" dirty="0"/>
              <a:t>1-95 </a:t>
            </a:r>
            <a:r>
              <a:rPr lang="zh-CN" altLang="en-US" sz="1600" dirty="0"/>
              <a:t>公路到</a:t>
            </a:r>
            <a:r>
              <a:rPr lang="en-US" altLang="zh-CN" sz="1600" dirty="0"/>
              <a:t>Don</a:t>
            </a:r>
            <a:r>
              <a:rPr lang="zh-CN" altLang="en-US" sz="1600" dirty="0"/>
              <a:t>标难，然后再问其他人。在</a:t>
            </a:r>
            <a:r>
              <a:rPr lang="en-US" altLang="zh-CN" sz="1600" dirty="0" err="1"/>
              <a:t>Doyou</a:t>
            </a:r>
            <a:r>
              <a:rPr lang="zh-CN" altLang="en-US" sz="1600" dirty="0"/>
              <a:t>海滩，另一个加油站服务员也抽取该地址的奥兰多那分，告诉</a:t>
            </a:r>
            <a:r>
              <a:rPr lang="en-US" altLang="zh-CN" sz="1600" dirty="0"/>
              <a:t>.</a:t>
            </a:r>
            <a:r>
              <a:rPr lang="zh-CN" altLang="en-US" sz="1600" dirty="0"/>
              <a:t>应当走</a:t>
            </a:r>
            <a:r>
              <a:rPr lang="en-US" altLang="zh-CN" sz="1600" dirty="0"/>
              <a:t>14</a:t>
            </a:r>
            <a:r>
              <a:rPr lang="zh-CN" altLang="en-US" sz="1600" dirty="0"/>
              <a:t>公路直接前往奥兰多。</a:t>
            </a:r>
            <a:r>
              <a:rPr lang="en-US" altLang="zh-CN" sz="1600" dirty="0"/>
              <a:t>Joe</a:t>
            </a:r>
            <a:r>
              <a:rPr lang="zh-CN" altLang="en-US" sz="1600" dirty="0"/>
              <a:t>走了</a:t>
            </a:r>
            <a:r>
              <a:rPr lang="en-US" altLang="zh-CN" sz="1600" dirty="0"/>
              <a:t>14</a:t>
            </a:r>
            <a:r>
              <a:rPr lang="zh-CN" altLang="en-US" sz="1600" dirty="0"/>
              <a:t>公路，并从奥兰多出口下来告许户限个加油站的服务员期间， 这时该服务员抽取该地址的</a:t>
            </a:r>
            <a:r>
              <a:rPr lang="en-US" altLang="zh-CN" sz="1600" dirty="0" err="1"/>
              <a:t>Laeide</a:t>
            </a:r>
            <a:r>
              <a:rPr lang="en-US" altLang="zh-CN" sz="1600" dirty="0"/>
              <a:t> </a:t>
            </a:r>
            <a:r>
              <a:rPr lang="en-US" altLang="zh-CN" sz="1600" dirty="0" err="1"/>
              <a:t>Dineta</a:t>
            </a:r>
            <a:r>
              <a:rPr lang="zh-CN" altLang="en-US" sz="1600" dirty="0"/>
              <a:t>告诉了</a:t>
            </a:r>
            <a:r>
              <a:rPr lang="en-US" altLang="zh-CN" sz="1600" dirty="0"/>
              <a:t>Joe</a:t>
            </a:r>
            <a:r>
              <a:rPr lang="zh-CN" altLang="en-US" sz="1600" dirty="0"/>
              <a:t>到</a:t>
            </a:r>
            <a:r>
              <a:rPr lang="en-US" altLang="zh-CN" sz="1600" dirty="0" err="1"/>
              <a:t>Lakeide</a:t>
            </a:r>
            <a:r>
              <a:rPr lang="en-US" altLang="zh-CN" sz="1600" dirty="0"/>
              <a:t> Drive </a:t>
            </a:r>
            <a:r>
              <a:rPr lang="zh-CN" altLang="en-US" sz="1600" dirty="0"/>
              <a:t>必须要走的路。且</a:t>
            </a:r>
            <a:r>
              <a:rPr lang="en-US" altLang="zh-CN" sz="1600" dirty="0"/>
              <a:t>Joe</a:t>
            </a:r>
            <a:r>
              <a:rPr lang="zh-CN" altLang="en-US" sz="1600" dirty="0"/>
              <a:t>到达了</a:t>
            </a:r>
            <a:r>
              <a:rPr lang="en-US" altLang="zh-CN" sz="1600" dirty="0" err="1"/>
              <a:t>Lkeide</a:t>
            </a:r>
            <a:r>
              <a:rPr lang="en-US" altLang="zh-CN" sz="1600" dirty="0"/>
              <a:t> Dive,</a:t>
            </a:r>
            <a:r>
              <a:rPr lang="zh-CN" altLang="en-US" sz="1600" dirty="0"/>
              <a:t>他向一个骑自任的为山，和同了</a:t>
            </a:r>
            <a:r>
              <a:rPr lang="en-US" altLang="zh-CN" sz="1600" dirty="0"/>
              <a:t>9</a:t>
            </a:r>
            <a:r>
              <a:rPr lang="zh-CN" altLang="en-US" sz="1600" dirty="0"/>
              <a:t>过日的质的方法。， 这个钱</a:t>
            </a:r>
            <a:r>
              <a:rPr lang="en-US" altLang="zh-CN" sz="1600" dirty="0"/>
              <a:t>F</a:t>
            </a:r>
            <a:r>
              <a:rPr lang="zh-CN" altLang="en-US" sz="1600" dirty="0"/>
              <a:t>执款广该地址的</a:t>
            </a:r>
            <a:r>
              <a:rPr lang="en-US" altLang="zh-CN" sz="1600" dirty="0"/>
              <a:t>5</a:t>
            </a:r>
            <a:r>
              <a:rPr lang="zh-CN" altLang="en-US" sz="1600" dirty="0"/>
              <a:t>特部分，开布不中国屋的方向。</a:t>
            </a:r>
            <a:r>
              <a:rPr lang="en-US" altLang="zh-CN" sz="1600" dirty="0"/>
              <a:t>Joe</a:t>
            </a:r>
            <a:r>
              <a:rPr lang="zh-CN" altLang="en-US" sz="1600" dirty="0"/>
              <a:t>最后到达了最终目的地。在上述类比中，那些加油站服务员和骑车的孩子可类比为路由器。</a:t>
            </a:r>
          </a:p>
        </p:txBody>
      </p:sp>
    </p:spTree>
    <p:extLst>
      <p:ext uri="{BB962C8B-B14F-4D97-AF65-F5344CB8AC3E}">
        <p14:creationId xmlns:p14="http://schemas.microsoft.com/office/powerpoint/2010/main" val="767347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A33B73-0943-4E05-BDEE-401F50CCD1A2}"/>
              </a:ext>
            </a:extLst>
          </p:cNvPr>
          <p:cNvSpPr txBox="1"/>
          <p:nvPr/>
        </p:nvSpPr>
        <p:spPr>
          <a:xfrm>
            <a:off x="794327" y="628073"/>
            <a:ext cx="10317018" cy="707886"/>
          </a:xfrm>
          <a:prstGeom prst="rect">
            <a:avLst/>
          </a:prstGeom>
          <a:noFill/>
        </p:spPr>
        <p:txBody>
          <a:bodyPr wrap="square" rtlCol="0">
            <a:spAutoFit/>
          </a:bodyPr>
          <a:lstStyle/>
          <a:p>
            <a:pPr algn="ctr"/>
            <a:r>
              <a:rPr lang="zh-CN" altLang="en-US" sz="4000" dirty="0"/>
              <a:t>电路交换</a:t>
            </a:r>
            <a:endParaRPr lang="zh-CN" altLang="en-US" sz="4000" b="1" dirty="0"/>
          </a:p>
        </p:txBody>
      </p:sp>
      <p:sp>
        <p:nvSpPr>
          <p:cNvPr id="3" name="文本框 2">
            <a:extLst>
              <a:ext uri="{FF2B5EF4-FFF2-40B4-BE49-F238E27FC236}">
                <a16:creationId xmlns:a16="http://schemas.microsoft.com/office/drawing/2014/main" id="{5D3464EA-1F4F-4BC7-8270-18433904C8A2}"/>
              </a:ext>
            </a:extLst>
          </p:cNvPr>
          <p:cNvSpPr txBox="1"/>
          <p:nvPr/>
        </p:nvSpPr>
        <p:spPr>
          <a:xfrm>
            <a:off x="1320799" y="1468581"/>
            <a:ext cx="8100291" cy="369332"/>
          </a:xfrm>
          <a:prstGeom prst="rect">
            <a:avLst/>
          </a:prstGeom>
          <a:noFill/>
        </p:spPr>
        <p:txBody>
          <a:bodyPr wrap="square" rtlCol="0">
            <a:spAutoFit/>
          </a:bodyPr>
          <a:lstStyle/>
          <a:p>
            <a:r>
              <a:rPr lang="zh-CN" altLang="en-US" dirty="0"/>
              <a:t>通过网络链路和交换机移动数据有两种基本方法：</a:t>
            </a:r>
            <a:r>
              <a:rPr lang="zh-CN" altLang="en-US" b="1" dirty="0"/>
              <a:t>电路交换</a:t>
            </a:r>
            <a:r>
              <a:rPr lang="zh-CN" altLang="en-US" dirty="0"/>
              <a:t>，</a:t>
            </a:r>
            <a:r>
              <a:rPr lang="zh-CN" altLang="en-US" b="1" dirty="0"/>
              <a:t>分组交换。</a:t>
            </a:r>
            <a:endParaRPr lang="zh-CN" altLang="en-US" dirty="0"/>
          </a:p>
        </p:txBody>
      </p:sp>
      <p:sp>
        <p:nvSpPr>
          <p:cNvPr id="5" name="文本框 4">
            <a:extLst>
              <a:ext uri="{FF2B5EF4-FFF2-40B4-BE49-F238E27FC236}">
                <a16:creationId xmlns:a16="http://schemas.microsoft.com/office/drawing/2014/main" id="{A1380CB2-6D75-47EC-80EF-AECC33B4B33E}"/>
              </a:ext>
            </a:extLst>
          </p:cNvPr>
          <p:cNvSpPr txBox="1"/>
          <p:nvPr/>
        </p:nvSpPr>
        <p:spPr>
          <a:xfrm>
            <a:off x="1320799" y="2030404"/>
            <a:ext cx="9975273" cy="646331"/>
          </a:xfrm>
          <a:prstGeom prst="rect">
            <a:avLst/>
          </a:prstGeom>
          <a:noFill/>
        </p:spPr>
        <p:txBody>
          <a:bodyPr wrap="square" rtlCol="0">
            <a:spAutoFit/>
          </a:bodyPr>
          <a:lstStyle/>
          <a:p>
            <a:r>
              <a:rPr lang="zh-CN" altLang="en-US" dirty="0"/>
              <a:t>在电路交换网络中，在端系统间通信会话期间，预留了端系统间沿路径通信所需要的资源</a:t>
            </a:r>
            <a:r>
              <a:rPr lang="en-US" altLang="zh-CN" dirty="0"/>
              <a:t>(</a:t>
            </a:r>
            <a:r>
              <a:rPr lang="zh-CN" altLang="en-US" dirty="0"/>
              <a:t>缓存、链路传输速率</a:t>
            </a:r>
            <a:r>
              <a:rPr lang="en-US" altLang="zh-CN" dirty="0"/>
              <a:t>)</a:t>
            </a:r>
            <a:r>
              <a:rPr lang="zh-CN" altLang="en-US" dirty="0"/>
              <a:t>。</a:t>
            </a:r>
          </a:p>
        </p:txBody>
      </p:sp>
      <p:sp>
        <p:nvSpPr>
          <p:cNvPr id="6" name="文本框 5">
            <a:extLst>
              <a:ext uri="{FF2B5EF4-FFF2-40B4-BE49-F238E27FC236}">
                <a16:creationId xmlns:a16="http://schemas.microsoft.com/office/drawing/2014/main" id="{9163013F-5D03-4545-B4A9-B85C2EF61C0A}"/>
              </a:ext>
            </a:extLst>
          </p:cNvPr>
          <p:cNvSpPr txBox="1"/>
          <p:nvPr/>
        </p:nvSpPr>
        <p:spPr>
          <a:xfrm>
            <a:off x="1320799" y="3017237"/>
            <a:ext cx="10049165" cy="707886"/>
          </a:xfrm>
          <a:prstGeom prst="rect">
            <a:avLst/>
          </a:prstGeom>
          <a:noFill/>
        </p:spPr>
        <p:txBody>
          <a:bodyPr wrap="square" rtlCol="0">
            <a:spAutoFit/>
          </a:bodyPr>
          <a:lstStyle/>
          <a:p>
            <a:r>
              <a:rPr lang="zh-CN" altLang="en-US" sz="2000" b="1" dirty="0"/>
              <a:t>频分复用</a:t>
            </a:r>
            <a:r>
              <a:rPr lang="en-US" altLang="zh-CN" sz="2000" b="1" dirty="0"/>
              <a:t>(FDM)</a:t>
            </a:r>
            <a:r>
              <a:rPr lang="zh-CN" altLang="en-US" sz="2000" b="1" dirty="0"/>
              <a:t>：</a:t>
            </a:r>
            <a:r>
              <a:rPr lang="zh-CN" altLang="en-US" sz="2000" dirty="0"/>
              <a:t>对于</a:t>
            </a:r>
            <a:r>
              <a:rPr lang="en-US" altLang="zh-CN" sz="2000" dirty="0"/>
              <a:t>FDM</a:t>
            </a:r>
            <a:r>
              <a:rPr lang="zh-CN" altLang="en-US" sz="2000" dirty="0"/>
              <a:t>链路的频谱有跨越链路创建的所有链接共享，在连接中链路为每条连接专用一个频谱。</a:t>
            </a:r>
            <a:endParaRPr lang="zh-CN" altLang="en-US" sz="2000" b="1" dirty="0"/>
          </a:p>
        </p:txBody>
      </p:sp>
      <p:sp>
        <p:nvSpPr>
          <p:cNvPr id="7" name="文本框 6">
            <a:extLst>
              <a:ext uri="{FF2B5EF4-FFF2-40B4-BE49-F238E27FC236}">
                <a16:creationId xmlns:a16="http://schemas.microsoft.com/office/drawing/2014/main" id="{BC080FA7-282B-4259-BD4D-0C70AE2CF9A1}"/>
              </a:ext>
            </a:extLst>
          </p:cNvPr>
          <p:cNvSpPr txBox="1"/>
          <p:nvPr/>
        </p:nvSpPr>
        <p:spPr>
          <a:xfrm>
            <a:off x="1260762" y="3977589"/>
            <a:ext cx="10169237" cy="1323439"/>
          </a:xfrm>
          <a:prstGeom prst="rect">
            <a:avLst/>
          </a:prstGeom>
          <a:noFill/>
        </p:spPr>
        <p:txBody>
          <a:bodyPr wrap="square" rtlCol="0">
            <a:spAutoFit/>
          </a:bodyPr>
          <a:lstStyle/>
          <a:p>
            <a:r>
              <a:rPr lang="zh-CN" altLang="en-US" sz="2000" b="1" dirty="0"/>
              <a:t>时分复用</a:t>
            </a:r>
            <a:r>
              <a:rPr lang="en-US" altLang="zh-CN" sz="2000" b="1" dirty="0"/>
              <a:t>(TDM)</a:t>
            </a:r>
            <a:r>
              <a:rPr lang="zh-CN" altLang="en-US" sz="2000" b="1" dirty="0"/>
              <a:t>：</a:t>
            </a:r>
            <a:r>
              <a:rPr lang="zh-CN" altLang="en-US" sz="2000" dirty="0"/>
              <a:t>时间被划分为固定时期的帧，并且每个帧又被划分为固定数量的时隙，当网络跨越一条链路创建一条连接时，网络在每个帧中为该连接指定一个时隙，这些时隙专门由该连接单独使用，一个时隙</a:t>
            </a:r>
            <a:r>
              <a:rPr lang="en-US" altLang="zh-CN" sz="2000" dirty="0"/>
              <a:t>(</a:t>
            </a:r>
            <a:r>
              <a:rPr lang="zh-CN" altLang="en-US" sz="2000" dirty="0"/>
              <a:t>在每个帧内</a:t>
            </a:r>
            <a:r>
              <a:rPr lang="en-US" altLang="zh-CN" sz="2000" dirty="0"/>
              <a:t>)</a:t>
            </a:r>
            <a:r>
              <a:rPr lang="zh-CN" altLang="en-US" sz="2000" dirty="0"/>
              <a:t>可用于传输该连接的数据。</a:t>
            </a:r>
            <a:endParaRPr lang="en-US" altLang="zh-CN" sz="2000" dirty="0"/>
          </a:p>
          <a:p>
            <a:r>
              <a:rPr lang="zh-CN" altLang="en-US" sz="2000" b="1" dirty="0"/>
              <a:t>静默期：</a:t>
            </a:r>
            <a:r>
              <a:rPr lang="zh-CN" altLang="en-US" sz="2000" dirty="0"/>
              <a:t>预留路径空闲的时候</a:t>
            </a:r>
          </a:p>
        </p:txBody>
      </p:sp>
      <p:sp>
        <p:nvSpPr>
          <p:cNvPr id="8" name="文本框 7">
            <a:extLst>
              <a:ext uri="{FF2B5EF4-FFF2-40B4-BE49-F238E27FC236}">
                <a16:creationId xmlns:a16="http://schemas.microsoft.com/office/drawing/2014/main" id="{35B15023-A544-40EE-8D99-2AA58B796DE3}"/>
              </a:ext>
            </a:extLst>
          </p:cNvPr>
          <p:cNvSpPr txBox="1"/>
          <p:nvPr/>
        </p:nvSpPr>
        <p:spPr>
          <a:xfrm>
            <a:off x="5601853" y="5720422"/>
            <a:ext cx="6345382" cy="584775"/>
          </a:xfrm>
          <a:prstGeom prst="rect">
            <a:avLst/>
          </a:prstGeom>
          <a:noFill/>
        </p:spPr>
        <p:txBody>
          <a:bodyPr wrap="square" rtlCol="0">
            <a:spAutoFit/>
          </a:bodyPr>
          <a:lstStyle/>
          <a:p>
            <a:r>
              <a:rPr lang="zh-CN" altLang="en-US" dirty="0"/>
              <a:t>分组交换与电路交换的对比见网络或者数</a:t>
            </a:r>
            <a:r>
              <a:rPr lang="en-US" altLang="zh-CN" sz="3200" b="1" dirty="0"/>
              <a:t>P</a:t>
            </a:r>
            <a:r>
              <a:rPr lang="en-US" altLang="zh-CN" sz="2000" dirty="0"/>
              <a:t>21</a:t>
            </a:r>
            <a:r>
              <a:rPr lang="zh-CN" altLang="en-US" dirty="0"/>
              <a:t>。</a:t>
            </a:r>
          </a:p>
        </p:txBody>
      </p:sp>
    </p:spTree>
    <p:extLst>
      <p:ext uri="{BB962C8B-B14F-4D97-AF65-F5344CB8AC3E}">
        <p14:creationId xmlns:p14="http://schemas.microsoft.com/office/powerpoint/2010/main" val="2881430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1576ED21-897E-4FBA-BF87-05FD57DDB7CB}"/>
              </a:ext>
            </a:extLst>
          </p:cNvPr>
          <p:cNvSpPr txBox="1"/>
          <p:nvPr/>
        </p:nvSpPr>
        <p:spPr>
          <a:xfrm>
            <a:off x="1440873" y="332509"/>
            <a:ext cx="8672946" cy="769441"/>
          </a:xfrm>
          <a:prstGeom prst="rect">
            <a:avLst/>
          </a:prstGeom>
          <a:noFill/>
        </p:spPr>
        <p:txBody>
          <a:bodyPr wrap="square" rtlCol="0">
            <a:spAutoFit/>
          </a:bodyPr>
          <a:lstStyle/>
          <a:p>
            <a:pPr algn="ctr"/>
            <a:r>
              <a:rPr lang="zh-CN" altLang="en-US" sz="4400" b="1" dirty="0"/>
              <a:t>网络的网络</a:t>
            </a:r>
          </a:p>
        </p:txBody>
      </p:sp>
      <p:sp>
        <p:nvSpPr>
          <p:cNvPr id="7" name="文本框 6">
            <a:extLst>
              <a:ext uri="{FF2B5EF4-FFF2-40B4-BE49-F238E27FC236}">
                <a16:creationId xmlns:a16="http://schemas.microsoft.com/office/drawing/2014/main" id="{0785AC3C-C870-4973-855A-057CEC27267E}"/>
              </a:ext>
            </a:extLst>
          </p:cNvPr>
          <p:cNvSpPr txBox="1"/>
          <p:nvPr/>
        </p:nvSpPr>
        <p:spPr>
          <a:xfrm>
            <a:off x="1043709" y="1391714"/>
            <a:ext cx="7897091" cy="461665"/>
          </a:xfrm>
          <a:prstGeom prst="rect">
            <a:avLst/>
          </a:prstGeom>
          <a:noFill/>
        </p:spPr>
        <p:txBody>
          <a:bodyPr wrap="square" rtlCol="0">
            <a:spAutoFit/>
          </a:bodyPr>
          <a:lstStyle/>
          <a:p>
            <a:r>
              <a:rPr lang="zh-CN" altLang="en-US" sz="2400" b="1" dirty="0"/>
              <a:t>网络结构一：</a:t>
            </a:r>
            <a:r>
              <a:rPr lang="zh-CN" altLang="en-US" sz="2000" dirty="0"/>
              <a:t>用单一的全球传输</a:t>
            </a:r>
            <a:r>
              <a:rPr lang="en-US" altLang="zh-CN" sz="2000" dirty="0"/>
              <a:t>ISP</a:t>
            </a:r>
            <a:r>
              <a:rPr lang="zh-CN" altLang="en-US" sz="2000" dirty="0"/>
              <a:t>互联所有接入</a:t>
            </a:r>
            <a:r>
              <a:rPr lang="en-US" altLang="zh-CN" sz="2000" dirty="0"/>
              <a:t>ISP</a:t>
            </a:r>
            <a:endParaRPr lang="zh-CN" altLang="en-US" sz="2400" b="1" dirty="0"/>
          </a:p>
        </p:txBody>
      </p:sp>
      <p:sp>
        <p:nvSpPr>
          <p:cNvPr id="10" name="文本框 9">
            <a:extLst>
              <a:ext uri="{FF2B5EF4-FFF2-40B4-BE49-F238E27FC236}">
                <a16:creationId xmlns:a16="http://schemas.microsoft.com/office/drawing/2014/main" id="{4D33E8D8-ED8A-463E-B5B5-7F4309A42CB1}"/>
              </a:ext>
            </a:extLst>
          </p:cNvPr>
          <p:cNvSpPr txBox="1"/>
          <p:nvPr/>
        </p:nvSpPr>
        <p:spPr>
          <a:xfrm>
            <a:off x="1043709" y="2258731"/>
            <a:ext cx="9448800" cy="461665"/>
          </a:xfrm>
          <a:prstGeom prst="rect">
            <a:avLst/>
          </a:prstGeom>
          <a:noFill/>
        </p:spPr>
        <p:txBody>
          <a:bodyPr wrap="square" rtlCol="0">
            <a:spAutoFit/>
          </a:bodyPr>
          <a:lstStyle/>
          <a:p>
            <a:r>
              <a:rPr lang="zh-CN" altLang="en-US" sz="2400" b="1" dirty="0"/>
              <a:t>网络结构二：</a:t>
            </a:r>
            <a:r>
              <a:rPr lang="zh-CN" altLang="en-US" sz="2000" dirty="0"/>
              <a:t>由数十万个接入</a:t>
            </a:r>
            <a:r>
              <a:rPr lang="en-US" altLang="zh-CN" sz="2000" dirty="0"/>
              <a:t>ISP</a:t>
            </a:r>
            <a:r>
              <a:rPr lang="zh-CN" altLang="en-US" sz="2000" dirty="0"/>
              <a:t>和多个全球传输</a:t>
            </a:r>
            <a:r>
              <a:rPr lang="en-US" altLang="zh-CN" sz="2000" dirty="0"/>
              <a:t>ISP</a:t>
            </a:r>
            <a:r>
              <a:rPr lang="zh-CN" altLang="en-US" sz="2000" dirty="0"/>
              <a:t>组成</a:t>
            </a:r>
            <a:endParaRPr lang="en-US" altLang="zh-CN" sz="2400" dirty="0"/>
          </a:p>
        </p:txBody>
      </p:sp>
      <p:sp>
        <p:nvSpPr>
          <p:cNvPr id="11" name="文本框 10">
            <a:extLst>
              <a:ext uri="{FF2B5EF4-FFF2-40B4-BE49-F238E27FC236}">
                <a16:creationId xmlns:a16="http://schemas.microsoft.com/office/drawing/2014/main" id="{4F195FF9-4ED2-4C87-90E3-55122739677C}"/>
              </a:ext>
            </a:extLst>
          </p:cNvPr>
          <p:cNvSpPr txBox="1"/>
          <p:nvPr/>
        </p:nvSpPr>
        <p:spPr>
          <a:xfrm>
            <a:off x="1043709" y="3125749"/>
            <a:ext cx="9448800" cy="461665"/>
          </a:xfrm>
          <a:prstGeom prst="rect">
            <a:avLst/>
          </a:prstGeom>
          <a:noFill/>
        </p:spPr>
        <p:txBody>
          <a:bodyPr wrap="square" rtlCol="0">
            <a:spAutoFit/>
          </a:bodyPr>
          <a:lstStyle/>
          <a:p>
            <a:r>
              <a:rPr lang="zh-CN" altLang="en-US" sz="2400" b="1" dirty="0"/>
              <a:t>网络结构三：</a:t>
            </a:r>
            <a:r>
              <a:rPr lang="zh-CN" altLang="en-US" sz="2000" dirty="0"/>
              <a:t>多层</a:t>
            </a:r>
            <a:r>
              <a:rPr lang="en-US" altLang="zh-CN" sz="2000" dirty="0"/>
              <a:t>ISP</a:t>
            </a:r>
            <a:r>
              <a:rPr lang="zh-CN" altLang="en-US" sz="2000" dirty="0"/>
              <a:t>等级结构</a:t>
            </a:r>
            <a:r>
              <a:rPr lang="en-US" altLang="zh-CN" sz="2000" dirty="0"/>
              <a:t>(</a:t>
            </a:r>
            <a:r>
              <a:rPr lang="zh-CN" altLang="en-US" sz="2000" dirty="0"/>
              <a:t>例如：区域</a:t>
            </a:r>
            <a:r>
              <a:rPr lang="en-US" altLang="zh-CN" sz="2000" dirty="0"/>
              <a:t>ISP</a:t>
            </a:r>
            <a:r>
              <a:rPr lang="zh-CN" altLang="en-US" sz="2000" dirty="0"/>
              <a:t>，省级</a:t>
            </a:r>
            <a:r>
              <a:rPr lang="en-US" altLang="zh-CN" sz="2000" dirty="0"/>
              <a:t>ISP</a:t>
            </a:r>
            <a:r>
              <a:rPr lang="zh-CN" altLang="en-US" sz="2000" dirty="0"/>
              <a:t>，国家级</a:t>
            </a:r>
            <a:r>
              <a:rPr lang="en-US" altLang="zh-CN" sz="2000" dirty="0"/>
              <a:t>ISP)</a:t>
            </a:r>
            <a:endParaRPr lang="en-US" altLang="zh-CN" sz="2400" dirty="0"/>
          </a:p>
        </p:txBody>
      </p:sp>
      <p:sp>
        <p:nvSpPr>
          <p:cNvPr id="13" name="文本框 12">
            <a:extLst>
              <a:ext uri="{FF2B5EF4-FFF2-40B4-BE49-F238E27FC236}">
                <a16:creationId xmlns:a16="http://schemas.microsoft.com/office/drawing/2014/main" id="{028F8499-A320-4EEC-95E2-D149FAB54B69}"/>
              </a:ext>
            </a:extLst>
          </p:cNvPr>
          <p:cNvSpPr txBox="1"/>
          <p:nvPr/>
        </p:nvSpPr>
        <p:spPr>
          <a:xfrm>
            <a:off x="1043709" y="4089730"/>
            <a:ext cx="9448800" cy="461665"/>
          </a:xfrm>
          <a:prstGeom prst="rect">
            <a:avLst/>
          </a:prstGeom>
          <a:noFill/>
        </p:spPr>
        <p:txBody>
          <a:bodyPr wrap="square" rtlCol="0">
            <a:spAutoFit/>
          </a:bodyPr>
          <a:lstStyle/>
          <a:p>
            <a:r>
              <a:rPr lang="zh-CN" altLang="en-US" sz="2400" b="1" dirty="0"/>
              <a:t>网络结构四：</a:t>
            </a:r>
            <a:r>
              <a:rPr lang="zh-CN" altLang="en-US" sz="2000" dirty="0"/>
              <a:t>网络结构三</a:t>
            </a:r>
            <a:r>
              <a:rPr lang="en-US" altLang="zh-CN" sz="2000" dirty="0"/>
              <a:t>+【</a:t>
            </a:r>
            <a:r>
              <a:rPr lang="zh-CN" altLang="en-US" sz="2000" dirty="0"/>
              <a:t>存在点</a:t>
            </a:r>
            <a:r>
              <a:rPr lang="en-US" altLang="zh-CN" sz="2000" dirty="0"/>
              <a:t>(pop)+</a:t>
            </a:r>
            <a:r>
              <a:rPr lang="zh-CN" altLang="en-US" sz="2000" dirty="0"/>
              <a:t>多宿</a:t>
            </a:r>
            <a:r>
              <a:rPr lang="en-US" altLang="zh-CN" sz="2000" dirty="0"/>
              <a:t>+</a:t>
            </a:r>
            <a:r>
              <a:rPr lang="zh-CN" altLang="en-US" sz="2000" dirty="0"/>
              <a:t>对等</a:t>
            </a:r>
            <a:r>
              <a:rPr lang="en-US" altLang="zh-CN" sz="2000" dirty="0"/>
              <a:t>+</a:t>
            </a:r>
            <a:r>
              <a:rPr lang="zh-CN" altLang="en-US" sz="2000" dirty="0"/>
              <a:t>因特网交换点</a:t>
            </a:r>
            <a:r>
              <a:rPr lang="en-US" altLang="zh-CN" sz="2000" dirty="0"/>
              <a:t>(IXP)】</a:t>
            </a:r>
            <a:endParaRPr lang="en-US" altLang="zh-CN" sz="2400" dirty="0"/>
          </a:p>
        </p:txBody>
      </p:sp>
      <p:sp>
        <p:nvSpPr>
          <p:cNvPr id="14" name="文本框 13">
            <a:extLst>
              <a:ext uri="{FF2B5EF4-FFF2-40B4-BE49-F238E27FC236}">
                <a16:creationId xmlns:a16="http://schemas.microsoft.com/office/drawing/2014/main" id="{751BDAA8-A4AA-40C7-862B-3D4B95110976}"/>
              </a:ext>
            </a:extLst>
          </p:cNvPr>
          <p:cNvSpPr txBox="1"/>
          <p:nvPr/>
        </p:nvSpPr>
        <p:spPr>
          <a:xfrm>
            <a:off x="1052946" y="5119584"/>
            <a:ext cx="9448800" cy="461665"/>
          </a:xfrm>
          <a:prstGeom prst="rect">
            <a:avLst/>
          </a:prstGeom>
          <a:noFill/>
        </p:spPr>
        <p:txBody>
          <a:bodyPr wrap="square" rtlCol="0">
            <a:spAutoFit/>
          </a:bodyPr>
          <a:lstStyle/>
          <a:p>
            <a:r>
              <a:rPr lang="zh-CN" altLang="en-US" sz="2400" b="1" dirty="0"/>
              <a:t>网络结构五：</a:t>
            </a:r>
            <a:r>
              <a:rPr lang="zh-CN" altLang="en-US" sz="2000" dirty="0"/>
              <a:t>网络结构四</a:t>
            </a:r>
            <a:r>
              <a:rPr lang="en-US" altLang="zh-CN" sz="2000" dirty="0"/>
              <a:t>+【</a:t>
            </a:r>
            <a:r>
              <a:rPr lang="zh-CN" altLang="en-US" sz="2000" dirty="0"/>
              <a:t>内容提供商网络</a:t>
            </a:r>
            <a:r>
              <a:rPr lang="en-US" altLang="zh-CN" sz="2000" dirty="0"/>
              <a:t>】</a:t>
            </a:r>
            <a:r>
              <a:rPr lang="zh-CN" altLang="en-US" sz="2000" dirty="0"/>
              <a:t>。它描述了现今的因特网。</a:t>
            </a:r>
            <a:endParaRPr lang="en-US" altLang="zh-CN" sz="2400" dirty="0"/>
          </a:p>
        </p:txBody>
      </p:sp>
      <p:sp>
        <p:nvSpPr>
          <p:cNvPr id="15" name="文本框 14">
            <a:extLst>
              <a:ext uri="{FF2B5EF4-FFF2-40B4-BE49-F238E27FC236}">
                <a16:creationId xmlns:a16="http://schemas.microsoft.com/office/drawing/2014/main" id="{CDD283A5-D44F-4EF8-94F4-8F6039F27C94}"/>
              </a:ext>
            </a:extLst>
          </p:cNvPr>
          <p:cNvSpPr txBox="1"/>
          <p:nvPr/>
        </p:nvSpPr>
        <p:spPr>
          <a:xfrm>
            <a:off x="8460509" y="5694214"/>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22</a:t>
            </a:r>
            <a:endParaRPr lang="zh-CN" altLang="en-US" sz="3200" dirty="0"/>
          </a:p>
        </p:txBody>
      </p:sp>
    </p:spTree>
    <p:extLst>
      <p:ext uri="{BB962C8B-B14F-4D97-AF65-F5344CB8AC3E}">
        <p14:creationId xmlns:p14="http://schemas.microsoft.com/office/powerpoint/2010/main" val="1666192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5EFEBE0-6368-4DB1-8F04-AD2A71FEB3DB}"/>
              </a:ext>
            </a:extLst>
          </p:cNvPr>
          <p:cNvSpPr txBox="1"/>
          <p:nvPr/>
        </p:nvSpPr>
        <p:spPr>
          <a:xfrm>
            <a:off x="1935018" y="490919"/>
            <a:ext cx="8719127" cy="646331"/>
          </a:xfrm>
          <a:prstGeom prst="rect">
            <a:avLst/>
          </a:prstGeom>
          <a:noFill/>
        </p:spPr>
        <p:txBody>
          <a:bodyPr wrap="square" rtlCol="0">
            <a:spAutoFit/>
          </a:bodyPr>
          <a:lstStyle/>
          <a:p>
            <a:pPr algn="ctr"/>
            <a:r>
              <a:rPr lang="zh-CN" altLang="en-US" sz="3600" b="1" dirty="0"/>
              <a:t>分组交换网中的是时延、丢包和吞吐量</a:t>
            </a:r>
            <a:endParaRPr lang="en-US" altLang="zh-CN" sz="3600" b="1" dirty="0"/>
          </a:p>
        </p:txBody>
      </p:sp>
      <p:sp>
        <p:nvSpPr>
          <p:cNvPr id="3" name="文本框 2">
            <a:extLst>
              <a:ext uri="{FF2B5EF4-FFF2-40B4-BE49-F238E27FC236}">
                <a16:creationId xmlns:a16="http://schemas.microsoft.com/office/drawing/2014/main" id="{D5435A4B-4DB4-4B39-B320-362993F19279}"/>
              </a:ext>
            </a:extLst>
          </p:cNvPr>
          <p:cNvSpPr txBox="1"/>
          <p:nvPr/>
        </p:nvSpPr>
        <p:spPr>
          <a:xfrm>
            <a:off x="785091" y="1376218"/>
            <a:ext cx="9661236" cy="523220"/>
          </a:xfrm>
          <a:prstGeom prst="rect">
            <a:avLst/>
          </a:prstGeom>
          <a:noFill/>
        </p:spPr>
        <p:txBody>
          <a:bodyPr wrap="square" rtlCol="0">
            <a:spAutoFit/>
          </a:bodyPr>
          <a:lstStyle/>
          <a:p>
            <a:r>
              <a:rPr lang="zh-CN" altLang="en-US" sz="2800" b="1" dirty="0"/>
              <a:t>时延的类型：</a:t>
            </a:r>
          </a:p>
        </p:txBody>
      </p:sp>
      <p:sp>
        <p:nvSpPr>
          <p:cNvPr id="4" name="文本框 3">
            <a:extLst>
              <a:ext uri="{FF2B5EF4-FFF2-40B4-BE49-F238E27FC236}">
                <a16:creationId xmlns:a16="http://schemas.microsoft.com/office/drawing/2014/main" id="{B58D0299-6FD6-4BA3-9622-313CCAE9CD07}"/>
              </a:ext>
            </a:extLst>
          </p:cNvPr>
          <p:cNvSpPr txBox="1"/>
          <p:nvPr/>
        </p:nvSpPr>
        <p:spPr>
          <a:xfrm>
            <a:off x="1524000" y="1993489"/>
            <a:ext cx="9910618" cy="923330"/>
          </a:xfrm>
          <a:prstGeom prst="rect">
            <a:avLst/>
          </a:prstGeom>
          <a:noFill/>
        </p:spPr>
        <p:txBody>
          <a:bodyPr wrap="square" rtlCol="0">
            <a:spAutoFit/>
          </a:bodyPr>
          <a:lstStyle/>
          <a:p>
            <a:r>
              <a:rPr lang="en-US" altLang="zh-CN" dirty="0"/>
              <a:t>(1)</a:t>
            </a:r>
            <a:r>
              <a:rPr lang="zh-CN" altLang="en-US" dirty="0"/>
              <a:t>处理时延</a:t>
            </a:r>
            <a:r>
              <a:rPr lang="en-US" altLang="zh-CN" b="1" dirty="0"/>
              <a:t>: </a:t>
            </a:r>
            <a:r>
              <a:rPr lang="zh-CN" altLang="en-US" dirty="0"/>
              <a:t>检查分组首部和决定将该分组导向何处和检查比特级别的错误所需要的时间是处理</a:t>
            </a:r>
            <a:endParaRPr lang="en-US" altLang="zh-CN" dirty="0"/>
          </a:p>
          <a:p>
            <a:r>
              <a:rPr lang="zh-CN" altLang="en-US" dirty="0"/>
              <a:t> </a:t>
            </a:r>
            <a:r>
              <a:rPr lang="en-US" altLang="zh-CN" dirty="0"/>
              <a:t>                     </a:t>
            </a:r>
            <a:r>
              <a:rPr lang="zh-CN" altLang="en-US" dirty="0"/>
              <a:t>延时的一部分</a:t>
            </a:r>
            <a:r>
              <a:rPr lang="en-US" altLang="zh-CN" dirty="0"/>
              <a:t>,</a:t>
            </a:r>
            <a:r>
              <a:rPr lang="zh-CN" altLang="en-US" dirty="0"/>
              <a:t>高速路由器的处理时延是微秒甚至更少，一般与</a:t>
            </a:r>
            <a:r>
              <a:rPr lang="zh-CN" altLang="en-US" b="1" dirty="0"/>
              <a:t>最大吞吐量</a:t>
            </a:r>
            <a:r>
              <a:rPr lang="zh-CN" altLang="en-US" dirty="0"/>
              <a:t>有重要影</a:t>
            </a:r>
            <a:endParaRPr lang="en-US" altLang="zh-CN" dirty="0"/>
          </a:p>
          <a:p>
            <a:r>
              <a:rPr lang="en-US" altLang="zh-CN" dirty="0"/>
              <a:t>                       </a:t>
            </a:r>
            <a:r>
              <a:rPr lang="zh-CN" altLang="en-US" dirty="0"/>
              <a:t>响。</a:t>
            </a:r>
          </a:p>
        </p:txBody>
      </p:sp>
      <p:sp>
        <p:nvSpPr>
          <p:cNvPr id="5" name="文本框 4">
            <a:extLst>
              <a:ext uri="{FF2B5EF4-FFF2-40B4-BE49-F238E27FC236}">
                <a16:creationId xmlns:a16="http://schemas.microsoft.com/office/drawing/2014/main" id="{E16BBD01-E0F9-41A2-A6CD-C054D45809B9}"/>
              </a:ext>
            </a:extLst>
          </p:cNvPr>
          <p:cNvSpPr txBox="1"/>
          <p:nvPr/>
        </p:nvSpPr>
        <p:spPr>
          <a:xfrm>
            <a:off x="1524000" y="3105834"/>
            <a:ext cx="10215418" cy="646331"/>
          </a:xfrm>
          <a:prstGeom prst="rect">
            <a:avLst/>
          </a:prstGeom>
          <a:noFill/>
        </p:spPr>
        <p:txBody>
          <a:bodyPr wrap="square" rtlCol="0">
            <a:spAutoFit/>
          </a:bodyPr>
          <a:lstStyle/>
          <a:p>
            <a:r>
              <a:rPr lang="en-US" altLang="zh-CN" dirty="0"/>
              <a:t>(2)</a:t>
            </a:r>
            <a:r>
              <a:rPr lang="zh-CN" altLang="en-US" dirty="0"/>
              <a:t>排队时延</a:t>
            </a:r>
            <a:r>
              <a:rPr lang="en-US" altLang="zh-CN" b="1" dirty="0"/>
              <a:t>:</a:t>
            </a:r>
            <a:r>
              <a:rPr lang="zh-CN" altLang="en-US" dirty="0"/>
              <a:t>当分组在链路上等待传输所要的时长，取决于先期到达的正在排队等待向链路传输的分   </a:t>
            </a:r>
            <a:r>
              <a:rPr lang="en-US" altLang="zh-CN" dirty="0"/>
              <a:t>  </a:t>
            </a:r>
          </a:p>
          <a:p>
            <a:r>
              <a:rPr lang="en-US" altLang="zh-CN" dirty="0"/>
              <a:t>                     </a:t>
            </a:r>
            <a:r>
              <a:rPr lang="zh-CN" altLang="en-US" dirty="0"/>
              <a:t>组数量，正常是毫秒或者微秒级。</a:t>
            </a:r>
          </a:p>
        </p:txBody>
      </p:sp>
      <p:sp>
        <p:nvSpPr>
          <p:cNvPr id="6" name="文本框 5">
            <a:extLst>
              <a:ext uri="{FF2B5EF4-FFF2-40B4-BE49-F238E27FC236}">
                <a16:creationId xmlns:a16="http://schemas.microsoft.com/office/drawing/2014/main" id="{964D7385-D9A2-4A9F-BCC3-C0F9E91BA118}"/>
              </a:ext>
            </a:extLst>
          </p:cNvPr>
          <p:cNvSpPr txBox="1"/>
          <p:nvPr/>
        </p:nvSpPr>
        <p:spPr>
          <a:xfrm>
            <a:off x="1524000" y="3991133"/>
            <a:ext cx="10215418" cy="646331"/>
          </a:xfrm>
          <a:prstGeom prst="rect">
            <a:avLst/>
          </a:prstGeom>
          <a:noFill/>
        </p:spPr>
        <p:txBody>
          <a:bodyPr wrap="square" rtlCol="0">
            <a:spAutoFit/>
          </a:bodyPr>
          <a:lstStyle/>
          <a:p>
            <a:r>
              <a:rPr lang="en-US" altLang="zh-CN" dirty="0"/>
              <a:t>(3)</a:t>
            </a:r>
            <a:r>
              <a:rPr lang="zh-CN" altLang="en-US" dirty="0"/>
              <a:t>传输时延</a:t>
            </a:r>
            <a:r>
              <a:rPr lang="en-US" altLang="zh-CN" b="1" dirty="0"/>
              <a:t>:</a:t>
            </a:r>
            <a:r>
              <a:rPr lang="zh-CN" altLang="en-US" dirty="0"/>
              <a:t>一般是先到先服务方式</a:t>
            </a:r>
            <a:r>
              <a:rPr lang="en-US" altLang="zh-CN" dirty="0"/>
              <a:t>(</a:t>
            </a:r>
            <a:r>
              <a:rPr lang="zh-CN" altLang="en-US" dirty="0"/>
              <a:t>在路由器上推出比特的时长</a:t>
            </a:r>
            <a:r>
              <a:rPr lang="en-US" altLang="zh-CN" dirty="0"/>
              <a:t>)</a:t>
            </a:r>
            <a:r>
              <a:rPr lang="zh-CN" altLang="en-US" dirty="0"/>
              <a:t>，</a:t>
            </a:r>
            <a:r>
              <a:rPr lang="zh-CN" altLang="en-US" b="1" dirty="0"/>
              <a:t>分组长度</a:t>
            </a:r>
            <a:r>
              <a:rPr lang="en-US" altLang="zh-CN" b="1" dirty="0"/>
              <a:t>(</a:t>
            </a:r>
            <a:r>
              <a:rPr lang="zh-CN" altLang="en-US" b="1" dirty="0"/>
              <a:t>比特</a:t>
            </a:r>
            <a:r>
              <a:rPr lang="en-US" altLang="zh-CN" b="1" dirty="0"/>
              <a:t>)</a:t>
            </a:r>
            <a:r>
              <a:rPr lang="zh-CN" altLang="en-US" b="1" dirty="0"/>
              <a:t>除以传输速率</a:t>
            </a:r>
            <a:r>
              <a:rPr lang="en-US" altLang="zh-CN" b="1" dirty="0"/>
              <a:t>(b/s)  </a:t>
            </a:r>
          </a:p>
          <a:p>
            <a:r>
              <a:rPr lang="en-US" altLang="zh-CN" b="1" dirty="0"/>
              <a:t>                     </a:t>
            </a:r>
            <a:r>
              <a:rPr lang="zh-CN" altLang="en-US" dirty="0"/>
              <a:t>毫秒或者微秒级。</a:t>
            </a:r>
          </a:p>
        </p:txBody>
      </p:sp>
      <p:sp>
        <p:nvSpPr>
          <p:cNvPr id="7" name="文本框 6">
            <a:extLst>
              <a:ext uri="{FF2B5EF4-FFF2-40B4-BE49-F238E27FC236}">
                <a16:creationId xmlns:a16="http://schemas.microsoft.com/office/drawing/2014/main" id="{EFF6FDC6-0307-41A7-90B1-EF9F62597A8E}"/>
              </a:ext>
            </a:extLst>
          </p:cNvPr>
          <p:cNvSpPr txBox="1"/>
          <p:nvPr/>
        </p:nvSpPr>
        <p:spPr>
          <a:xfrm>
            <a:off x="1524000" y="4827689"/>
            <a:ext cx="10215418" cy="369332"/>
          </a:xfrm>
          <a:prstGeom prst="rect">
            <a:avLst/>
          </a:prstGeom>
          <a:noFill/>
        </p:spPr>
        <p:txBody>
          <a:bodyPr wrap="square" rtlCol="0">
            <a:spAutoFit/>
          </a:bodyPr>
          <a:lstStyle/>
          <a:p>
            <a:r>
              <a:rPr lang="en-US" altLang="zh-CN" dirty="0"/>
              <a:t>(4)</a:t>
            </a:r>
            <a:r>
              <a:rPr lang="zh-CN" altLang="en-US" dirty="0"/>
              <a:t>传播时延</a:t>
            </a:r>
            <a:r>
              <a:rPr lang="en-US" altLang="zh-CN" b="1" dirty="0"/>
              <a:t>:</a:t>
            </a:r>
            <a:r>
              <a:rPr lang="zh-CN" altLang="en-US" dirty="0"/>
              <a:t>在路上的时长，等于</a:t>
            </a:r>
            <a:r>
              <a:rPr lang="zh-CN" altLang="en-US" b="1" dirty="0"/>
              <a:t>距离除以传播速率</a:t>
            </a:r>
            <a:r>
              <a:rPr lang="en-US" altLang="zh-CN" b="1" dirty="0"/>
              <a:t>(m/s)</a:t>
            </a:r>
            <a:r>
              <a:rPr lang="zh-CN" altLang="en-US" dirty="0"/>
              <a:t>，一般毫秒级</a:t>
            </a:r>
            <a:endParaRPr lang="zh-CN" altLang="en-US" b="1" dirty="0"/>
          </a:p>
        </p:txBody>
      </p:sp>
      <p:sp>
        <p:nvSpPr>
          <p:cNvPr id="9" name="文本框 8">
            <a:extLst>
              <a:ext uri="{FF2B5EF4-FFF2-40B4-BE49-F238E27FC236}">
                <a16:creationId xmlns:a16="http://schemas.microsoft.com/office/drawing/2014/main" id="{9840ECFE-37AB-4686-98EB-94ECB24E7444}"/>
              </a:ext>
            </a:extLst>
          </p:cNvPr>
          <p:cNvSpPr txBox="1"/>
          <p:nvPr/>
        </p:nvSpPr>
        <p:spPr>
          <a:xfrm>
            <a:off x="2304472" y="5229348"/>
            <a:ext cx="9559637" cy="646331"/>
          </a:xfrm>
          <a:prstGeom prst="rect">
            <a:avLst/>
          </a:prstGeom>
          <a:noFill/>
        </p:spPr>
        <p:txBody>
          <a:bodyPr wrap="square" rtlCol="0">
            <a:spAutoFit/>
          </a:bodyPr>
          <a:lstStyle/>
          <a:p>
            <a:r>
              <a:rPr lang="en-US" altLang="zh-CN" sz="3200" b="1" dirty="0" err="1"/>
              <a:t>d</a:t>
            </a:r>
            <a:r>
              <a:rPr lang="en-US" altLang="zh-CN" dirty="0" err="1"/>
              <a:t>nodal</a:t>
            </a:r>
            <a:r>
              <a:rPr lang="en-US" altLang="zh-CN" sz="3600" dirty="0"/>
              <a:t>=</a:t>
            </a:r>
            <a:r>
              <a:rPr lang="en-US" altLang="zh-CN" sz="3200" b="1" dirty="0" err="1"/>
              <a:t>d</a:t>
            </a:r>
            <a:r>
              <a:rPr lang="en-US" altLang="zh-CN" dirty="0" err="1"/>
              <a:t>proc</a:t>
            </a:r>
            <a:r>
              <a:rPr lang="en-US" altLang="zh-CN" sz="3600" dirty="0" err="1"/>
              <a:t>+</a:t>
            </a:r>
            <a:r>
              <a:rPr lang="en-US" altLang="zh-CN" sz="3200" b="1" dirty="0" err="1"/>
              <a:t>d</a:t>
            </a:r>
            <a:r>
              <a:rPr lang="en-US" altLang="zh-CN" dirty="0" err="1"/>
              <a:t>queue</a:t>
            </a:r>
            <a:r>
              <a:rPr lang="en-US" altLang="zh-CN" sz="3200" dirty="0"/>
              <a:t> + </a:t>
            </a:r>
            <a:r>
              <a:rPr lang="en-US" altLang="zh-CN" sz="3200" b="1" dirty="0" err="1"/>
              <a:t>d</a:t>
            </a:r>
            <a:r>
              <a:rPr lang="en-US" altLang="zh-CN" dirty="0" err="1"/>
              <a:t>trans</a:t>
            </a:r>
            <a:r>
              <a:rPr lang="en-US" altLang="zh-CN" dirty="0"/>
              <a:t> </a:t>
            </a:r>
            <a:r>
              <a:rPr lang="en-US" altLang="zh-CN" sz="3200" dirty="0"/>
              <a:t>+ </a:t>
            </a:r>
            <a:r>
              <a:rPr lang="en-US" altLang="zh-CN" sz="3200" b="1" dirty="0" err="1"/>
              <a:t>d</a:t>
            </a:r>
            <a:r>
              <a:rPr lang="en-US" altLang="zh-CN" dirty="0" err="1"/>
              <a:t>prop</a:t>
            </a:r>
            <a:endParaRPr lang="zh-CN" altLang="en-US" sz="3200" dirty="0"/>
          </a:p>
        </p:txBody>
      </p:sp>
      <p:sp>
        <p:nvSpPr>
          <p:cNvPr id="10" name="文本框 9">
            <a:extLst>
              <a:ext uri="{FF2B5EF4-FFF2-40B4-BE49-F238E27FC236}">
                <a16:creationId xmlns:a16="http://schemas.microsoft.com/office/drawing/2014/main" id="{F2B1870C-FEE7-420A-BCDB-0E4EBD2D6D87}"/>
              </a:ext>
            </a:extLst>
          </p:cNvPr>
          <p:cNvSpPr txBox="1"/>
          <p:nvPr/>
        </p:nvSpPr>
        <p:spPr>
          <a:xfrm>
            <a:off x="2304472" y="5809486"/>
            <a:ext cx="8349673" cy="584775"/>
          </a:xfrm>
          <a:prstGeom prst="rect">
            <a:avLst/>
          </a:prstGeom>
          <a:noFill/>
        </p:spPr>
        <p:txBody>
          <a:bodyPr wrap="square" rtlCol="0">
            <a:spAutoFit/>
          </a:bodyPr>
          <a:lstStyle/>
          <a:p>
            <a:r>
              <a:rPr lang="zh-CN" altLang="en-US" dirty="0"/>
              <a:t>总时延 </a:t>
            </a:r>
            <a:r>
              <a:rPr lang="en-US" altLang="zh-CN" sz="3200" dirty="0"/>
              <a:t>= </a:t>
            </a:r>
            <a:r>
              <a:rPr lang="zh-CN" altLang="en-US" dirty="0"/>
              <a:t>处理时延</a:t>
            </a:r>
            <a:r>
              <a:rPr lang="en-US" altLang="zh-CN" sz="2800" dirty="0"/>
              <a:t>+</a:t>
            </a:r>
            <a:r>
              <a:rPr lang="zh-CN" altLang="en-US" dirty="0"/>
              <a:t> 排队时延 </a:t>
            </a:r>
            <a:r>
              <a:rPr lang="en-US" altLang="zh-CN" sz="2800" dirty="0"/>
              <a:t>+</a:t>
            </a:r>
            <a:r>
              <a:rPr lang="zh-CN" altLang="en-US" dirty="0"/>
              <a:t> 传输时延 </a:t>
            </a:r>
            <a:r>
              <a:rPr lang="en-US" altLang="zh-CN" sz="2800" dirty="0"/>
              <a:t>+</a:t>
            </a:r>
            <a:r>
              <a:rPr lang="zh-CN" altLang="en-US" dirty="0"/>
              <a:t>  传播时延</a:t>
            </a:r>
          </a:p>
        </p:txBody>
      </p:sp>
      <p:sp>
        <p:nvSpPr>
          <p:cNvPr id="12" name="文本框 11">
            <a:extLst>
              <a:ext uri="{FF2B5EF4-FFF2-40B4-BE49-F238E27FC236}">
                <a16:creationId xmlns:a16="http://schemas.microsoft.com/office/drawing/2014/main" id="{FF54541D-50A4-4B31-9448-38E0C09635F1}"/>
              </a:ext>
            </a:extLst>
          </p:cNvPr>
          <p:cNvSpPr txBox="1"/>
          <p:nvPr/>
        </p:nvSpPr>
        <p:spPr>
          <a:xfrm>
            <a:off x="9162473" y="5755988"/>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25</a:t>
            </a:r>
            <a:endParaRPr lang="zh-CN" altLang="en-US" sz="3200" dirty="0"/>
          </a:p>
        </p:txBody>
      </p:sp>
    </p:spTree>
    <p:extLst>
      <p:ext uri="{BB962C8B-B14F-4D97-AF65-F5344CB8AC3E}">
        <p14:creationId xmlns:p14="http://schemas.microsoft.com/office/powerpoint/2010/main" val="35966850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C01AFCCA-2ACE-4B98-B8C9-3D997B62A798}"/>
              </a:ext>
            </a:extLst>
          </p:cNvPr>
          <p:cNvSpPr txBox="1"/>
          <p:nvPr/>
        </p:nvSpPr>
        <p:spPr>
          <a:xfrm>
            <a:off x="3629890" y="464642"/>
            <a:ext cx="6714837" cy="769441"/>
          </a:xfrm>
          <a:prstGeom prst="rect">
            <a:avLst/>
          </a:prstGeom>
          <a:noFill/>
        </p:spPr>
        <p:txBody>
          <a:bodyPr wrap="square" rtlCol="0">
            <a:spAutoFit/>
          </a:bodyPr>
          <a:lstStyle/>
          <a:p>
            <a:r>
              <a:rPr lang="zh-CN" altLang="en-US" sz="4400" b="1" dirty="0"/>
              <a:t>排队时延和丢包</a:t>
            </a:r>
          </a:p>
        </p:txBody>
      </p:sp>
      <p:sp>
        <p:nvSpPr>
          <p:cNvPr id="3" name="文本框 2">
            <a:extLst>
              <a:ext uri="{FF2B5EF4-FFF2-40B4-BE49-F238E27FC236}">
                <a16:creationId xmlns:a16="http://schemas.microsoft.com/office/drawing/2014/main" id="{DDA2FC44-B36D-4776-9324-15C200F7E109}"/>
              </a:ext>
            </a:extLst>
          </p:cNvPr>
          <p:cNvSpPr txBox="1"/>
          <p:nvPr/>
        </p:nvSpPr>
        <p:spPr>
          <a:xfrm>
            <a:off x="1071418" y="1178093"/>
            <a:ext cx="9494981" cy="1631216"/>
          </a:xfrm>
          <a:prstGeom prst="rect">
            <a:avLst/>
          </a:prstGeom>
          <a:noFill/>
        </p:spPr>
        <p:txBody>
          <a:bodyPr wrap="square" rtlCol="0">
            <a:spAutoFit/>
          </a:bodyPr>
          <a:lstStyle/>
          <a:p>
            <a:r>
              <a:rPr lang="en-US" altLang="zh-CN" sz="2000" dirty="0"/>
              <a:t>L</a:t>
            </a:r>
            <a:r>
              <a:rPr lang="zh-CN" altLang="en-US" sz="2000" dirty="0"/>
              <a:t>：一个分组的比特大小</a:t>
            </a:r>
            <a:endParaRPr lang="en-US" altLang="zh-CN" sz="2000" dirty="0"/>
          </a:p>
          <a:p>
            <a:r>
              <a:rPr lang="en-US" altLang="zh-CN" sz="2000" dirty="0"/>
              <a:t>a</a:t>
            </a:r>
            <a:r>
              <a:rPr lang="zh-CN" altLang="en-US" sz="2000" dirty="0"/>
              <a:t>：分组到达队列的</a:t>
            </a:r>
            <a:r>
              <a:rPr lang="zh-CN" altLang="en-US" sz="2000" b="1" dirty="0"/>
              <a:t>平均</a:t>
            </a:r>
            <a:r>
              <a:rPr lang="zh-CN" altLang="en-US" sz="2000" dirty="0"/>
              <a:t>速度</a:t>
            </a:r>
            <a:r>
              <a:rPr lang="en-US" altLang="zh-CN" sz="2000" dirty="0"/>
              <a:t>(</a:t>
            </a:r>
            <a:r>
              <a:rPr lang="zh-CN" altLang="en-US" sz="2000" dirty="0"/>
              <a:t>分组</a:t>
            </a:r>
            <a:r>
              <a:rPr lang="en-US" altLang="zh-CN" sz="2000" dirty="0"/>
              <a:t>/</a:t>
            </a:r>
            <a:r>
              <a:rPr lang="zh-CN" altLang="en-US" sz="2000" dirty="0"/>
              <a:t>秒</a:t>
            </a:r>
            <a:r>
              <a:rPr lang="en-US" altLang="zh-CN" sz="2000" dirty="0"/>
              <a:t>=pkt/s)</a:t>
            </a:r>
            <a:r>
              <a:rPr lang="zh-CN" altLang="en-US" sz="2000" dirty="0"/>
              <a:t>进入队列实际速度无上限，此处因为 </a:t>
            </a:r>
            <a:endParaRPr lang="en-US" altLang="zh-CN" sz="2000" dirty="0"/>
          </a:p>
          <a:p>
            <a:r>
              <a:rPr lang="en-US" altLang="zh-CN" sz="2000" dirty="0"/>
              <a:t>    </a:t>
            </a:r>
            <a:r>
              <a:rPr lang="zh-CN" altLang="en-US" sz="2000" dirty="0"/>
              <a:t>分组进入队列时到达的流量性质不确定，有时无分组到达，有时扎堆到达，这 里  </a:t>
            </a:r>
            <a:endParaRPr lang="en-US" altLang="zh-CN" sz="2000" dirty="0"/>
          </a:p>
          <a:p>
            <a:r>
              <a:rPr lang="en-US" altLang="zh-CN" sz="2000" dirty="0"/>
              <a:t>    </a:t>
            </a:r>
            <a:r>
              <a:rPr lang="zh-CN" altLang="en-US" sz="2000" dirty="0"/>
              <a:t>取平均值。</a:t>
            </a:r>
            <a:endParaRPr lang="en-US" altLang="zh-CN" sz="2000" dirty="0"/>
          </a:p>
          <a:p>
            <a:r>
              <a:rPr lang="en-US" altLang="zh-CN" sz="2000" dirty="0"/>
              <a:t>R</a:t>
            </a:r>
            <a:r>
              <a:rPr lang="zh-CN" altLang="en-US" sz="2000" dirty="0"/>
              <a:t>：传输速度</a:t>
            </a:r>
            <a:r>
              <a:rPr lang="en-US" altLang="zh-CN" sz="2000" dirty="0"/>
              <a:t>(</a:t>
            </a:r>
            <a:r>
              <a:rPr lang="zh-CN" altLang="en-US" sz="2000" dirty="0"/>
              <a:t>队列中推出比特的速率</a:t>
            </a:r>
            <a:r>
              <a:rPr lang="en-US" altLang="zh-CN" sz="2000" dirty="0"/>
              <a:t>bps=b/s)</a:t>
            </a:r>
          </a:p>
        </p:txBody>
      </p:sp>
      <p:sp>
        <p:nvSpPr>
          <p:cNvPr id="5" name="文本框 4">
            <a:extLst>
              <a:ext uri="{FF2B5EF4-FFF2-40B4-BE49-F238E27FC236}">
                <a16:creationId xmlns:a16="http://schemas.microsoft.com/office/drawing/2014/main" id="{BB38A3BD-8DB1-4CC8-A7AF-364C87B7BB64}"/>
              </a:ext>
            </a:extLst>
          </p:cNvPr>
          <p:cNvSpPr txBox="1"/>
          <p:nvPr/>
        </p:nvSpPr>
        <p:spPr>
          <a:xfrm>
            <a:off x="1071418" y="2868059"/>
            <a:ext cx="9938327" cy="461665"/>
          </a:xfrm>
          <a:prstGeom prst="rect">
            <a:avLst/>
          </a:prstGeom>
          <a:noFill/>
        </p:spPr>
        <p:txBody>
          <a:bodyPr wrap="square" rtlCol="0">
            <a:spAutoFit/>
          </a:bodyPr>
          <a:lstStyle/>
          <a:p>
            <a:r>
              <a:rPr lang="zh-CN" altLang="en-US" sz="2400" b="1" dirty="0"/>
              <a:t>流量强度：</a:t>
            </a:r>
            <a:r>
              <a:rPr lang="en-US" altLang="zh-CN" sz="2400" b="1" dirty="0"/>
              <a:t>La/R(</a:t>
            </a:r>
            <a:r>
              <a:rPr lang="zh-CN" altLang="en-US" sz="2400" b="1" dirty="0"/>
              <a:t>进</a:t>
            </a:r>
            <a:r>
              <a:rPr lang="en-US" altLang="zh-CN" sz="2400" b="1" dirty="0"/>
              <a:t>/</a:t>
            </a:r>
            <a:r>
              <a:rPr lang="zh-CN" altLang="en-US" sz="2400" b="1" dirty="0"/>
              <a:t>出</a:t>
            </a:r>
            <a:r>
              <a:rPr lang="en-US" altLang="zh-CN" sz="2400" b="1" dirty="0"/>
              <a:t>)</a:t>
            </a:r>
            <a:endParaRPr lang="zh-CN" altLang="en-US" sz="2400" b="1" dirty="0"/>
          </a:p>
        </p:txBody>
      </p:sp>
      <p:sp>
        <p:nvSpPr>
          <p:cNvPr id="6" name="文本框 5">
            <a:extLst>
              <a:ext uri="{FF2B5EF4-FFF2-40B4-BE49-F238E27FC236}">
                <a16:creationId xmlns:a16="http://schemas.microsoft.com/office/drawing/2014/main" id="{32F2487A-0A95-4E11-BC5E-37E16C7EC795}"/>
              </a:ext>
            </a:extLst>
          </p:cNvPr>
          <p:cNvSpPr txBox="1"/>
          <p:nvPr/>
        </p:nvSpPr>
        <p:spPr>
          <a:xfrm>
            <a:off x="1847273" y="3436249"/>
            <a:ext cx="9236363" cy="369332"/>
          </a:xfrm>
          <a:prstGeom prst="rect">
            <a:avLst/>
          </a:prstGeom>
          <a:noFill/>
        </p:spPr>
        <p:txBody>
          <a:bodyPr wrap="square" rtlCol="0">
            <a:spAutoFit/>
          </a:bodyPr>
          <a:lstStyle/>
          <a:p>
            <a:r>
              <a:rPr lang="zh-CN" altLang="en-US" dirty="0"/>
              <a:t>流量工程中的一条金科玉律是：设计系统时流量强度不能大于</a:t>
            </a:r>
            <a:r>
              <a:rPr lang="en-US" altLang="zh-CN" dirty="0"/>
              <a:t>1</a:t>
            </a:r>
            <a:endParaRPr lang="zh-CN" altLang="en-US" dirty="0"/>
          </a:p>
        </p:txBody>
      </p:sp>
      <p:pic>
        <p:nvPicPr>
          <p:cNvPr id="8" name="图片 7">
            <a:extLst>
              <a:ext uri="{FF2B5EF4-FFF2-40B4-BE49-F238E27FC236}">
                <a16:creationId xmlns:a16="http://schemas.microsoft.com/office/drawing/2014/main" id="{39EF9508-A93E-466A-BC48-B9627B51CEBF}"/>
              </a:ext>
            </a:extLst>
          </p:cNvPr>
          <p:cNvPicPr>
            <a:picLocks noChangeAspect="1"/>
          </p:cNvPicPr>
          <p:nvPr/>
        </p:nvPicPr>
        <p:blipFill rotWithShape="1">
          <a:blip r:embed="rId2">
            <a:extLst>
              <a:ext uri="{28A0092B-C50C-407E-A947-70E740481C1C}">
                <a14:useLocalDpi xmlns:a14="http://schemas.microsoft.com/office/drawing/2010/main" val="0"/>
              </a:ext>
            </a:extLst>
          </a:blip>
          <a:srcRect l="39350" t="19539" r="19512" b="19539"/>
          <a:stretch/>
        </p:blipFill>
        <p:spPr>
          <a:xfrm rot="5400000">
            <a:off x="8688976" y="2241483"/>
            <a:ext cx="2960377" cy="3288007"/>
          </a:xfrm>
          <a:prstGeom prst="rect">
            <a:avLst/>
          </a:prstGeom>
        </p:spPr>
      </p:pic>
      <p:sp>
        <p:nvSpPr>
          <p:cNvPr id="9" name="文本框 8">
            <a:extLst>
              <a:ext uri="{FF2B5EF4-FFF2-40B4-BE49-F238E27FC236}">
                <a16:creationId xmlns:a16="http://schemas.microsoft.com/office/drawing/2014/main" id="{DA1A7ECA-1625-434E-9F40-6A6017EDEC91}"/>
              </a:ext>
            </a:extLst>
          </p:cNvPr>
          <p:cNvSpPr txBox="1"/>
          <p:nvPr/>
        </p:nvSpPr>
        <p:spPr>
          <a:xfrm>
            <a:off x="8063344" y="5721880"/>
            <a:ext cx="3879274" cy="369332"/>
          </a:xfrm>
          <a:prstGeom prst="rect">
            <a:avLst/>
          </a:prstGeom>
          <a:noFill/>
        </p:spPr>
        <p:txBody>
          <a:bodyPr wrap="square" rtlCol="0">
            <a:spAutoFit/>
          </a:bodyPr>
          <a:lstStyle/>
          <a:p>
            <a:r>
              <a:rPr lang="zh-CN" altLang="en-US" dirty="0"/>
              <a:t>平均排队时延与流量强度的定性关系</a:t>
            </a:r>
          </a:p>
        </p:txBody>
      </p:sp>
      <p:sp>
        <p:nvSpPr>
          <p:cNvPr id="10" name="文本框 9">
            <a:extLst>
              <a:ext uri="{FF2B5EF4-FFF2-40B4-BE49-F238E27FC236}">
                <a16:creationId xmlns:a16="http://schemas.microsoft.com/office/drawing/2014/main" id="{7E13B89C-2DBB-400B-A397-651C2F09DBF5}"/>
              </a:ext>
            </a:extLst>
          </p:cNvPr>
          <p:cNvSpPr txBox="1"/>
          <p:nvPr/>
        </p:nvSpPr>
        <p:spPr>
          <a:xfrm>
            <a:off x="1071418" y="3967711"/>
            <a:ext cx="914400" cy="461665"/>
          </a:xfrm>
          <a:prstGeom prst="rect">
            <a:avLst/>
          </a:prstGeom>
          <a:noFill/>
        </p:spPr>
        <p:txBody>
          <a:bodyPr wrap="square" rtlCol="0">
            <a:spAutoFit/>
          </a:bodyPr>
          <a:lstStyle/>
          <a:p>
            <a:r>
              <a:rPr lang="zh-CN" altLang="en-US" sz="2400" b="1" dirty="0"/>
              <a:t>丢包</a:t>
            </a:r>
          </a:p>
        </p:txBody>
      </p:sp>
      <p:sp>
        <p:nvSpPr>
          <p:cNvPr id="11" name="文本框 10">
            <a:extLst>
              <a:ext uri="{FF2B5EF4-FFF2-40B4-BE49-F238E27FC236}">
                <a16:creationId xmlns:a16="http://schemas.microsoft.com/office/drawing/2014/main" id="{E135C863-DFEA-4035-8DA3-0E7A3D589668}"/>
              </a:ext>
            </a:extLst>
          </p:cNvPr>
          <p:cNvSpPr txBox="1"/>
          <p:nvPr/>
        </p:nvSpPr>
        <p:spPr>
          <a:xfrm>
            <a:off x="1551708" y="4488512"/>
            <a:ext cx="6511636" cy="1754326"/>
          </a:xfrm>
          <a:prstGeom prst="rect">
            <a:avLst/>
          </a:prstGeom>
          <a:noFill/>
        </p:spPr>
        <p:txBody>
          <a:bodyPr wrap="square" rtlCol="0">
            <a:spAutoFit/>
          </a:bodyPr>
          <a:lstStyle/>
          <a:p>
            <a:r>
              <a:rPr lang="zh-CN" altLang="en-US" dirty="0"/>
              <a:t>在现实中，一条链路前的队列只有限的容量，尽管排队容量极大地以来于路由器设计和成本。因为该队列容量是有限的，随着流量强度接近</a:t>
            </a:r>
            <a:r>
              <a:rPr lang="en-US" altLang="zh-CN" dirty="0"/>
              <a:t>1</a:t>
            </a:r>
            <a:r>
              <a:rPr lang="zh-CN" altLang="en-US" dirty="0"/>
              <a:t>，排队时延并不正正趋向无穷大。相反，到达的分组将发现一个满的队列，由于没有地方储存这个队列，路由器将</a:t>
            </a:r>
            <a:r>
              <a:rPr lang="zh-CN" altLang="en-US" b="1" dirty="0"/>
              <a:t>丢弃</a:t>
            </a:r>
            <a:r>
              <a:rPr lang="zh-CN" altLang="en-US" dirty="0"/>
              <a:t>这个分组，及该分组会</a:t>
            </a:r>
            <a:r>
              <a:rPr lang="zh-CN" altLang="en-US" b="1" dirty="0"/>
              <a:t>丢失</a:t>
            </a:r>
            <a:r>
              <a:rPr lang="zh-CN" altLang="en-US" dirty="0"/>
              <a:t>。</a:t>
            </a:r>
            <a:endParaRPr lang="en-US" altLang="zh-CN" dirty="0"/>
          </a:p>
          <a:p>
            <a:r>
              <a:rPr lang="zh-CN" altLang="en-US" dirty="0"/>
              <a:t>实际上，到达的分组或正在排队的分组之一被丢弃        </a:t>
            </a:r>
            <a:r>
              <a:rPr lang="en-US" altLang="zh-CN" dirty="0"/>
              <a:t>P17</a:t>
            </a:r>
            <a:endParaRPr lang="zh-CN" altLang="en-US" dirty="0"/>
          </a:p>
        </p:txBody>
      </p:sp>
      <p:sp>
        <p:nvSpPr>
          <p:cNvPr id="15" name="文本框 14">
            <a:extLst>
              <a:ext uri="{FF2B5EF4-FFF2-40B4-BE49-F238E27FC236}">
                <a16:creationId xmlns:a16="http://schemas.microsoft.com/office/drawing/2014/main" id="{84C0C520-97F6-4368-9A67-2DBB8A9CAC8A}"/>
              </a:ext>
            </a:extLst>
          </p:cNvPr>
          <p:cNvSpPr txBox="1"/>
          <p:nvPr/>
        </p:nvSpPr>
        <p:spPr>
          <a:xfrm>
            <a:off x="9328727" y="6236980"/>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28</a:t>
            </a:r>
            <a:endParaRPr lang="zh-CN" altLang="en-US" sz="3200" dirty="0"/>
          </a:p>
        </p:txBody>
      </p:sp>
    </p:spTree>
    <p:extLst>
      <p:ext uri="{BB962C8B-B14F-4D97-AF65-F5344CB8AC3E}">
        <p14:creationId xmlns:p14="http://schemas.microsoft.com/office/powerpoint/2010/main" val="12795798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18671F8-7B46-4EE3-B978-BDF35D0FEBBB}"/>
              </a:ext>
            </a:extLst>
          </p:cNvPr>
          <p:cNvSpPr txBox="1"/>
          <p:nvPr/>
        </p:nvSpPr>
        <p:spPr>
          <a:xfrm>
            <a:off x="1034473" y="452582"/>
            <a:ext cx="10123054" cy="584775"/>
          </a:xfrm>
          <a:prstGeom prst="rect">
            <a:avLst/>
          </a:prstGeom>
          <a:noFill/>
        </p:spPr>
        <p:txBody>
          <a:bodyPr wrap="square" rtlCol="0">
            <a:spAutoFit/>
          </a:bodyPr>
          <a:lstStyle/>
          <a:p>
            <a:pPr algn="ctr"/>
            <a:r>
              <a:rPr lang="zh-CN" altLang="en-US" sz="3200" b="1" dirty="0"/>
              <a:t>端到端的时延</a:t>
            </a:r>
          </a:p>
        </p:txBody>
      </p:sp>
      <p:sp>
        <p:nvSpPr>
          <p:cNvPr id="3" name="文本框 2">
            <a:extLst>
              <a:ext uri="{FF2B5EF4-FFF2-40B4-BE49-F238E27FC236}">
                <a16:creationId xmlns:a16="http://schemas.microsoft.com/office/drawing/2014/main" id="{48FFF5AD-A4E5-4F3E-80DA-898982FF8D85}"/>
              </a:ext>
            </a:extLst>
          </p:cNvPr>
          <p:cNvSpPr txBox="1"/>
          <p:nvPr/>
        </p:nvSpPr>
        <p:spPr>
          <a:xfrm>
            <a:off x="1283855" y="1232204"/>
            <a:ext cx="4544291" cy="369332"/>
          </a:xfrm>
          <a:prstGeom prst="rect">
            <a:avLst/>
          </a:prstGeom>
          <a:noFill/>
        </p:spPr>
        <p:txBody>
          <a:bodyPr wrap="square" rtlCol="0">
            <a:spAutoFit/>
          </a:bodyPr>
          <a:lstStyle/>
          <a:p>
            <a:r>
              <a:rPr lang="zh-CN" altLang="en-US" dirty="0"/>
              <a:t>一、</a:t>
            </a:r>
            <a:r>
              <a:rPr lang="en-US" altLang="zh-CN" dirty="0"/>
              <a:t>Traceroute:</a:t>
            </a:r>
            <a:endParaRPr lang="zh-CN" altLang="en-US" dirty="0"/>
          </a:p>
        </p:txBody>
      </p:sp>
      <p:sp>
        <p:nvSpPr>
          <p:cNvPr id="4" name="文本框 3">
            <a:extLst>
              <a:ext uri="{FF2B5EF4-FFF2-40B4-BE49-F238E27FC236}">
                <a16:creationId xmlns:a16="http://schemas.microsoft.com/office/drawing/2014/main" id="{A2BE0F17-080C-420C-A490-8AB0BBCECF74}"/>
              </a:ext>
            </a:extLst>
          </p:cNvPr>
          <p:cNvSpPr txBox="1"/>
          <p:nvPr/>
        </p:nvSpPr>
        <p:spPr>
          <a:xfrm>
            <a:off x="1283855" y="3368847"/>
            <a:ext cx="4812145" cy="369332"/>
          </a:xfrm>
          <a:prstGeom prst="rect">
            <a:avLst/>
          </a:prstGeom>
          <a:noFill/>
        </p:spPr>
        <p:txBody>
          <a:bodyPr wrap="square" rtlCol="0">
            <a:spAutoFit/>
          </a:bodyPr>
          <a:lstStyle/>
          <a:p>
            <a:r>
              <a:rPr lang="zh-CN" altLang="en-US" dirty="0"/>
              <a:t>二、端系统、应用程序和其他时延</a:t>
            </a:r>
          </a:p>
        </p:txBody>
      </p:sp>
      <p:sp>
        <p:nvSpPr>
          <p:cNvPr id="5" name="文本框 4">
            <a:extLst>
              <a:ext uri="{FF2B5EF4-FFF2-40B4-BE49-F238E27FC236}">
                <a16:creationId xmlns:a16="http://schemas.microsoft.com/office/drawing/2014/main" id="{BEF47FED-5BC4-4667-99EA-2035D45BC41A}"/>
              </a:ext>
            </a:extLst>
          </p:cNvPr>
          <p:cNvSpPr txBox="1"/>
          <p:nvPr/>
        </p:nvSpPr>
        <p:spPr>
          <a:xfrm>
            <a:off x="1791855" y="3935830"/>
            <a:ext cx="9596582" cy="1569660"/>
          </a:xfrm>
          <a:prstGeom prst="rect">
            <a:avLst/>
          </a:prstGeom>
          <a:noFill/>
        </p:spPr>
        <p:txBody>
          <a:bodyPr wrap="square" rtlCol="0">
            <a:spAutoFit/>
          </a:bodyPr>
          <a:lstStyle/>
          <a:p>
            <a:r>
              <a:rPr lang="zh-CN" altLang="en-US" sz="1600" dirty="0"/>
              <a:t>除了处理时延、传输时延和传播时延，端系统中还有其他一些重要时延。例如，希望向共享媒体</a:t>
            </a:r>
            <a:r>
              <a:rPr lang="en-US" altLang="zh-CN" sz="1600" dirty="0"/>
              <a:t>(</a:t>
            </a:r>
            <a:r>
              <a:rPr lang="zh-CN" altLang="en-US" sz="1600" dirty="0"/>
              <a:t>例如在</a:t>
            </a:r>
            <a:r>
              <a:rPr lang="en-US" altLang="zh-CN" sz="1600" dirty="0"/>
              <a:t>WIFI</a:t>
            </a:r>
            <a:r>
              <a:rPr lang="zh-CN" altLang="en-US" sz="1600" dirty="0"/>
              <a:t>或电缆调制解调器情况下</a:t>
            </a:r>
            <a:r>
              <a:rPr lang="en-US" altLang="zh-CN" sz="1600" dirty="0"/>
              <a:t>)</a:t>
            </a:r>
            <a:r>
              <a:rPr lang="zh-CN" altLang="en-US" sz="1600" dirty="0"/>
              <a:t>传输分组的端系统可能</a:t>
            </a:r>
            <a:r>
              <a:rPr lang="zh-CN" altLang="en-US" sz="1600" b="1" dirty="0"/>
              <a:t>有意延迟</a:t>
            </a:r>
            <a:r>
              <a:rPr lang="zh-CN" altLang="en-US" sz="1600" dirty="0"/>
              <a:t>它的传输，把这作为与其他端系统共享媒体的</a:t>
            </a:r>
            <a:r>
              <a:rPr lang="zh-CN" altLang="en-US" sz="1600" b="1" dirty="0"/>
              <a:t>协议</a:t>
            </a:r>
            <a:r>
              <a:rPr lang="zh-CN" altLang="en-US" sz="1600" dirty="0"/>
              <a:t>的一部分；我们将在第六章详细的考虑这样的协议。另一个重要的时延是媒体分组话时延，这种时延出现在</a:t>
            </a:r>
            <a:r>
              <a:rPr lang="en-US" altLang="zh-CN" sz="1600" dirty="0"/>
              <a:t>IP</a:t>
            </a:r>
            <a:r>
              <a:rPr lang="zh-CN" altLang="en-US" sz="1600" dirty="0"/>
              <a:t>语音</a:t>
            </a:r>
            <a:r>
              <a:rPr lang="en-US" altLang="zh-CN" sz="1600" dirty="0"/>
              <a:t>(VoIP)</a:t>
            </a:r>
            <a:r>
              <a:rPr lang="zh-CN" altLang="en-US" sz="1600" dirty="0"/>
              <a:t>应用中。在</a:t>
            </a:r>
            <a:r>
              <a:rPr lang="en-US" altLang="zh-CN" sz="1600" dirty="0"/>
              <a:t>VoIP</a:t>
            </a:r>
            <a:r>
              <a:rPr lang="zh-CN" altLang="en-US" sz="1600" dirty="0"/>
              <a:t>中，发送方在向因特网传递分组之前必须首先用编码的数字化语音填充一个分组。这种填充一个分组的时间称为</a:t>
            </a:r>
            <a:r>
              <a:rPr lang="zh-CN" altLang="en-US" sz="1600" b="1" dirty="0"/>
              <a:t>分组化时延</a:t>
            </a:r>
            <a:r>
              <a:rPr lang="zh-CN" altLang="en-US" sz="1600" dirty="0"/>
              <a:t>，它可能比较大，并能影响用户感受到的</a:t>
            </a:r>
            <a:r>
              <a:rPr lang="en-US" altLang="zh-CN" sz="1600" dirty="0"/>
              <a:t>VoIP</a:t>
            </a:r>
            <a:r>
              <a:rPr lang="zh-CN" altLang="en-US" sz="1600" dirty="0"/>
              <a:t>呼呼叫的质量。这个问题将在本章结束的课后作业中进一步探讨</a:t>
            </a:r>
            <a:endParaRPr lang="en-US" altLang="zh-CN" sz="1600" dirty="0"/>
          </a:p>
        </p:txBody>
      </p:sp>
      <p:sp>
        <p:nvSpPr>
          <p:cNvPr id="6" name="文本框 5">
            <a:extLst>
              <a:ext uri="{FF2B5EF4-FFF2-40B4-BE49-F238E27FC236}">
                <a16:creationId xmlns:a16="http://schemas.microsoft.com/office/drawing/2014/main" id="{BF217931-F501-4166-B15F-2657549251F0}"/>
              </a:ext>
            </a:extLst>
          </p:cNvPr>
          <p:cNvSpPr txBox="1"/>
          <p:nvPr/>
        </p:nvSpPr>
        <p:spPr>
          <a:xfrm>
            <a:off x="1791855" y="1796383"/>
            <a:ext cx="8931563" cy="1323439"/>
          </a:xfrm>
          <a:prstGeom prst="rect">
            <a:avLst/>
          </a:prstGeom>
          <a:noFill/>
        </p:spPr>
        <p:txBody>
          <a:bodyPr wrap="square" rtlCol="0">
            <a:spAutoFit/>
          </a:bodyPr>
          <a:lstStyle/>
          <a:p>
            <a:r>
              <a:rPr lang="en-US" altLang="zh-CN" sz="1600" dirty="0" err="1"/>
              <a:t>Tracetoute</a:t>
            </a:r>
            <a:r>
              <a:rPr lang="zh-CN" altLang="en-US" sz="1600" dirty="0"/>
              <a:t>是一个简单的程序，它能够在任何因特网主机上运行。向目的地发送多个特殊的分组，这些分组向着目的地传送时，他们通过一系列路由器，当路由器接收到这些特殊分组之一时，它向源回送一个短报文。该短报文包括路由器的名字和地址。</a:t>
            </a:r>
            <a:endParaRPr lang="en-US" altLang="zh-CN" sz="1600" dirty="0"/>
          </a:p>
          <a:p>
            <a:r>
              <a:rPr lang="zh-CN" altLang="en-US" sz="1600" dirty="0"/>
              <a:t>假定源和目的地之间有</a:t>
            </a:r>
            <a:r>
              <a:rPr lang="en-US" altLang="zh-CN" sz="1600" dirty="0"/>
              <a:t>N-1</a:t>
            </a:r>
            <a:r>
              <a:rPr lang="zh-CN" altLang="en-US" sz="1600" dirty="0"/>
              <a:t>台路由器，源发送</a:t>
            </a:r>
            <a:r>
              <a:rPr lang="en-US" altLang="zh-CN" sz="1600" dirty="0"/>
              <a:t>N</a:t>
            </a:r>
            <a:r>
              <a:rPr lang="zh-CN" altLang="en-US" sz="1600" dirty="0"/>
              <a:t>个分组。当第</a:t>
            </a:r>
            <a:r>
              <a:rPr lang="en-US" altLang="zh-CN" sz="1600" dirty="0"/>
              <a:t>n</a:t>
            </a:r>
            <a:r>
              <a:rPr lang="zh-CN" altLang="en-US" sz="1600" dirty="0"/>
              <a:t>台路由器接收到标示为</a:t>
            </a:r>
            <a:r>
              <a:rPr lang="en-US" altLang="zh-CN" sz="1600" dirty="0"/>
              <a:t>n</a:t>
            </a:r>
            <a:r>
              <a:rPr lang="zh-CN" altLang="en-US" sz="1600" dirty="0"/>
              <a:t>的第</a:t>
            </a:r>
            <a:r>
              <a:rPr lang="en-US" altLang="zh-CN" sz="1600" dirty="0"/>
              <a:t>n</a:t>
            </a:r>
            <a:r>
              <a:rPr lang="zh-CN" altLang="en-US" sz="1600" dirty="0"/>
              <a:t>个分组时，该路由器不是向目的地转发该分组，而是向源回送一个报文。</a:t>
            </a:r>
          </a:p>
        </p:txBody>
      </p:sp>
    </p:spTree>
    <p:extLst>
      <p:ext uri="{BB962C8B-B14F-4D97-AF65-F5344CB8AC3E}">
        <p14:creationId xmlns:p14="http://schemas.microsoft.com/office/powerpoint/2010/main" val="22913518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99D8EE22-1EC7-49C7-A382-E2F3F94018A7}"/>
              </a:ext>
            </a:extLst>
          </p:cNvPr>
          <p:cNvSpPr txBox="1"/>
          <p:nvPr/>
        </p:nvSpPr>
        <p:spPr>
          <a:xfrm>
            <a:off x="2669309" y="600364"/>
            <a:ext cx="6289963" cy="646331"/>
          </a:xfrm>
          <a:prstGeom prst="rect">
            <a:avLst/>
          </a:prstGeom>
          <a:noFill/>
        </p:spPr>
        <p:txBody>
          <a:bodyPr wrap="square" rtlCol="0">
            <a:spAutoFit/>
          </a:bodyPr>
          <a:lstStyle/>
          <a:p>
            <a:pPr algn="ctr"/>
            <a:r>
              <a:rPr lang="zh-CN" altLang="en-US" sz="3600" b="1" dirty="0"/>
              <a:t>计算机网络中的吞吐量</a:t>
            </a:r>
          </a:p>
        </p:txBody>
      </p:sp>
      <p:sp>
        <p:nvSpPr>
          <p:cNvPr id="3" name="文本框 2">
            <a:extLst>
              <a:ext uri="{FF2B5EF4-FFF2-40B4-BE49-F238E27FC236}">
                <a16:creationId xmlns:a16="http://schemas.microsoft.com/office/drawing/2014/main" id="{B4BF7F94-3AF4-4DC2-BBB5-8B9B4FABCD13}"/>
              </a:ext>
            </a:extLst>
          </p:cNvPr>
          <p:cNvSpPr txBox="1"/>
          <p:nvPr/>
        </p:nvSpPr>
        <p:spPr>
          <a:xfrm>
            <a:off x="1320800" y="1653309"/>
            <a:ext cx="9264073" cy="707886"/>
          </a:xfrm>
          <a:prstGeom prst="rect">
            <a:avLst/>
          </a:prstGeom>
          <a:noFill/>
        </p:spPr>
        <p:txBody>
          <a:bodyPr wrap="square" rtlCol="0">
            <a:spAutoFit/>
          </a:bodyPr>
          <a:lstStyle/>
          <a:p>
            <a:r>
              <a:rPr lang="zh-CN" altLang="en-US" sz="4000" b="1" dirty="0"/>
              <a:t>东西在这儿，计算机网络中的吞吐量</a:t>
            </a:r>
          </a:p>
        </p:txBody>
      </p:sp>
      <p:sp>
        <p:nvSpPr>
          <p:cNvPr id="4" name="文本框 3">
            <a:extLst>
              <a:ext uri="{FF2B5EF4-FFF2-40B4-BE49-F238E27FC236}">
                <a16:creationId xmlns:a16="http://schemas.microsoft.com/office/drawing/2014/main" id="{9E2783A6-AC40-4CC2-8F42-D2BEFF0972D4}"/>
              </a:ext>
            </a:extLst>
          </p:cNvPr>
          <p:cNvSpPr txBox="1"/>
          <p:nvPr/>
        </p:nvSpPr>
        <p:spPr>
          <a:xfrm>
            <a:off x="1422400" y="3084945"/>
            <a:ext cx="8959273" cy="369332"/>
          </a:xfrm>
          <a:prstGeom prst="rect">
            <a:avLst/>
          </a:prstGeom>
          <a:noFill/>
        </p:spPr>
        <p:txBody>
          <a:bodyPr wrap="square" rtlCol="0">
            <a:spAutoFit/>
          </a:bodyPr>
          <a:lstStyle/>
          <a:p>
            <a:r>
              <a:rPr lang="en-US" altLang="zh-CN" dirty="0"/>
              <a:t>2021.2.27</a:t>
            </a:r>
            <a:r>
              <a:rPr lang="zh-CN" altLang="en-US"/>
              <a:t>有事情暂时学习不了，在此上传，为了绿标</a:t>
            </a:r>
            <a:endParaRPr lang="zh-CN" altLang="en-US" dirty="0"/>
          </a:p>
        </p:txBody>
      </p:sp>
    </p:spTree>
    <p:extLst>
      <p:ext uri="{BB962C8B-B14F-4D97-AF65-F5344CB8AC3E}">
        <p14:creationId xmlns:p14="http://schemas.microsoft.com/office/powerpoint/2010/main" val="2083964384"/>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3297</TotalTime>
  <Words>2313</Words>
  <Application>Microsoft Office PowerPoint</Application>
  <PresentationFormat>宽屏</PresentationFormat>
  <Paragraphs>101</Paragraphs>
  <Slides>14</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14</vt:i4>
      </vt:variant>
    </vt:vector>
  </HeadingPairs>
  <TitlesOfParts>
    <vt:vector size="18"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宋</dc:creator>
  <cp:lastModifiedBy>宋</cp:lastModifiedBy>
  <cp:revision>48</cp:revision>
  <dcterms:created xsi:type="dcterms:W3CDTF">2021-02-19T02:08:25Z</dcterms:created>
  <dcterms:modified xsi:type="dcterms:W3CDTF">2021-02-27T11:40:01Z</dcterms:modified>
</cp:coreProperties>
</file>